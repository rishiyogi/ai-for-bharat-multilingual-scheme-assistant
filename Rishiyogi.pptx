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3"/>
  </p:notesMasterIdLst>
  <p:sldIdLst>
    <p:sldId id="256" r:id="rId2"/>
    <p:sldId id="257" r:id="rId3"/>
    <p:sldId id="267" r:id="rId4"/>
    <p:sldId id="268" r:id="rId5"/>
    <p:sldId id="269" r:id="rId6"/>
    <p:sldId id="270" r:id="rId7"/>
    <p:sldId id="260" r:id="rId8"/>
    <p:sldId id="262" r:id="rId9"/>
    <p:sldId id="263" r:id="rId10"/>
    <p:sldId id="264" r:id="rId11"/>
    <p:sldId id="266" r:id="rId12"/>
  </p:sldIdLst>
  <p:sldSz cx="9144000" cy="5143500" type="screen16x9"/>
  <p:notesSz cx="6858000" cy="9144000"/>
  <p:embeddedFontLst>
    <p:embeddedFont>
      <p:font typeface="Manrope" panose="020B0604020202020204" charset="0"/>
      <p:regular r:id="rId14"/>
      <p:bold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5" d="100"/>
          <a:sy n="145" d="100"/>
        </p:scale>
        <p:origin x="426" y="10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3b6c7e62156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3b6c7e62156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25716F5F-6F8D-90DB-6568-A7E8ACE06628}"/>
            </a:ext>
          </a:extLst>
        </p:cNvPr>
        <p:cNvGrpSpPr/>
        <p:nvPr/>
      </p:nvGrpSpPr>
      <p:grpSpPr>
        <a:xfrm>
          <a:off x="0" y="0"/>
          <a:ext cx="0" cy="0"/>
          <a:chOff x="0" y="0"/>
          <a:chExt cx="0" cy="0"/>
        </a:xfrm>
      </p:grpSpPr>
      <p:sp>
        <p:nvSpPr>
          <p:cNvPr id="59" name="Google Shape;59;g3b6c7e62156_0_1:notes">
            <a:extLst>
              <a:ext uri="{FF2B5EF4-FFF2-40B4-BE49-F238E27FC236}">
                <a16:creationId xmlns:a16="http://schemas.microsoft.com/office/drawing/2014/main" id="{C30A7241-FC5C-AEB8-1266-213D3D2C12A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3b6c7e62156_0_1:notes">
            <a:extLst>
              <a:ext uri="{FF2B5EF4-FFF2-40B4-BE49-F238E27FC236}">
                <a16:creationId xmlns:a16="http://schemas.microsoft.com/office/drawing/2014/main" id="{1983FACF-04B9-88E7-2318-8515FD03367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768269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176A42CF-3733-6CE3-B589-144C05654C44}"/>
            </a:ext>
          </a:extLst>
        </p:cNvPr>
        <p:cNvGrpSpPr/>
        <p:nvPr/>
      </p:nvGrpSpPr>
      <p:grpSpPr>
        <a:xfrm>
          <a:off x="0" y="0"/>
          <a:ext cx="0" cy="0"/>
          <a:chOff x="0" y="0"/>
          <a:chExt cx="0" cy="0"/>
        </a:xfrm>
      </p:grpSpPr>
      <p:sp>
        <p:nvSpPr>
          <p:cNvPr id="59" name="Google Shape;59;g3b6c7e62156_0_1:notes">
            <a:extLst>
              <a:ext uri="{FF2B5EF4-FFF2-40B4-BE49-F238E27FC236}">
                <a16:creationId xmlns:a16="http://schemas.microsoft.com/office/drawing/2014/main" id="{6AD4F3EE-C531-F8BA-EDC5-29242CD1551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3b6c7e62156_0_1:notes">
            <a:extLst>
              <a:ext uri="{FF2B5EF4-FFF2-40B4-BE49-F238E27FC236}">
                <a16:creationId xmlns:a16="http://schemas.microsoft.com/office/drawing/2014/main" id="{F86C105A-63B7-42C6-B68C-35E938061FD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644645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3C8938AD-16E1-5527-AB54-A8A52D647D58}"/>
            </a:ext>
          </a:extLst>
        </p:cNvPr>
        <p:cNvGrpSpPr/>
        <p:nvPr/>
      </p:nvGrpSpPr>
      <p:grpSpPr>
        <a:xfrm>
          <a:off x="0" y="0"/>
          <a:ext cx="0" cy="0"/>
          <a:chOff x="0" y="0"/>
          <a:chExt cx="0" cy="0"/>
        </a:xfrm>
      </p:grpSpPr>
      <p:sp>
        <p:nvSpPr>
          <p:cNvPr id="59" name="Google Shape;59;g3b6c7e62156_0_1:notes">
            <a:extLst>
              <a:ext uri="{FF2B5EF4-FFF2-40B4-BE49-F238E27FC236}">
                <a16:creationId xmlns:a16="http://schemas.microsoft.com/office/drawing/2014/main" id="{D25D7D69-0154-CADF-2646-652960FDE8B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3b6c7e62156_0_1:notes">
            <a:extLst>
              <a:ext uri="{FF2B5EF4-FFF2-40B4-BE49-F238E27FC236}">
                <a16:creationId xmlns:a16="http://schemas.microsoft.com/office/drawing/2014/main" id="{92FA5C83-04FC-DD52-C771-936F96131BF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211953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1EA3EE6B-BAB5-38EB-B057-497ACADCEDB7}"/>
            </a:ext>
          </a:extLst>
        </p:cNvPr>
        <p:cNvGrpSpPr/>
        <p:nvPr/>
      </p:nvGrpSpPr>
      <p:grpSpPr>
        <a:xfrm>
          <a:off x="0" y="0"/>
          <a:ext cx="0" cy="0"/>
          <a:chOff x="0" y="0"/>
          <a:chExt cx="0" cy="0"/>
        </a:xfrm>
      </p:grpSpPr>
      <p:sp>
        <p:nvSpPr>
          <p:cNvPr id="59" name="Google Shape;59;g3b6c7e62156_0_1:notes">
            <a:extLst>
              <a:ext uri="{FF2B5EF4-FFF2-40B4-BE49-F238E27FC236}">
                <a16:creationId xmlns:a16="http://schemas.microsoft.com/office/drawing/2014/main" id="{90A0A471-D0C4-5E3A-A41A-DA8687F59C8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3b6c7e62156_0_1:notes">
            <a:extLst>
              <a:ext uri="{FF2B5EF4-FFF2-40B4-BE49-F238E27FC236}">
                <a16:creationId xmlns:a16="http://schemas.microsoft.com/office/drawing/2014/main" id="{B8C10312-142B-2F72-16EF-2EFF85E627D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267728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b6c7e62156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3b6c7e62156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b6c7e62156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3b6c7e62156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3b6c7e62156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3b6c7e62156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3b6c7e62156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3b6c7e62156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b6c7e62156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b6c7e62156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p13" title="Artscfghgboard – 5.png"/>
          <p:cNvPicPr preferRelativeResize="0"/>
          <p:nvPr/>
        </p:nvPicPr>
        <p:blipFill>
          <a:blip r:embed="rId3">
            <a:alphaModFix/>
          </a:blip>
          <a:stretch>
            <a:fillRect/>
          </a:stretch>
        </p:blipFill>
        <p:spPr>
          <a:xfrm>
            <a:off x="0" y="0"/>
            <a:ext cx="9144018" cy="5143501"/>
          </a:xfrm>
          <a:prstGeom prst="rect">
            <a:avLst/>
          </a:prstGeom>
          <a:noFill/>
          <a:ln>
            <a:noFill/>
          </a:ln>
        </p:spPr>
      </p:pic>
      <p:sp>
        <p:nvSpPr>
          <p:cNvPr id="55" name="Google Shape;55;p13"/>
          <p:cNvSpPr txBox="1"/>
          <p:nvPr/>
        </p:nvSpPr>
        <p:spPr>
          <a:xfrm>
            <a:off x="383663" y="3385196"/>
            <a:ext cx="8520600" cy="443700"/>
          </a:xfrm>
          <a:prstGeom prst="rect">
            <a:avLst/>
          </a:prstGeom>
          <a:noFill/>
          <a:ln>
            <a:noFill/>
          </a:ln>
        </p:spPr>
        <p:txBody>
          <a:bodyPr spcFirstLastPara="1" wrap="square" lIns="91425" tIns="91425" rIns="91425" bIns="91425" anchor="t" anchorCtr="0">
            <a:normAutofit/>
          </a:bodyPr>
          <a:lstStyle/>
          <a:p>
            <a:pPr marL="0" lvl="0" indent="0" algn="l" rtl="0">
              <a:lnSpc>
                <a:spcPct val="80000"/>
              </a:lnSpc>
              <a:spcBef>
                <a:spcPts val="0"/>
              </a:spcBef>
              <a:spcAft>
                <a:spcPts val="0"/>
              </a:spcAft>
              <a:buNone/>
            </a:pPr>
            <a:r>
              <a:rPr lang="en-GB" sz="2000" dirty="0">
                <a:solidFill>
                  <a:srgbClr val="202729"/>
                </a:solidFill>
                <a:latin typeface="Calibri" panose="020F0502020204030204" pitchFamily="34" charset="0"/>
                <a:ea typeface="Manrope SemiBold"/>
                <a:cs typeface="Calibri" panose="020F0502020204030204" pitchFamily="34" charset="0"/>
                <a:sym typeface="Manrope SemiBold"/>
              </a:rPr>
              <a:t>Team Name : </a:t>
            </a:r>
            <a:r>
              <a:rPr lang="en-GB" sz="2000" dirty="0" err="1">
                <a:solidFill>
                  <a:srgbClr val="202729"/>
                </a:solidFill>
                <a:latin typeface="Calibri" panose="020F0502020204030204" pitchFamily="34" charset="0"/>
                <a:ea typeface="Manrope SemiBold"/>
                <a:cs typeface="Calibri" panose="020F0502020204030204" pitchFamily="34" charset="0"/>
                <a:sym typeface="Manrope SemiBold"/>
              </a:rPr>
              <a:t>AICloud</a:t>
            </a:r>
            <a:r>
              <a:rPr lang="en-GB" sz="2000" dirty="0">
                <a:solidFill>
                  <a:srgbClr val="202729"/>
                </a:solidFill>
                <a:latin typeface="Calibri" panose="020F0502020204030204" pitchFamily="34" charset="0"/>
                <a:ea typeface="Manrope SemiBold"/>
                <a:cs typeface="Calibri" panose="020F0502020204030204" pitchFamily="34" charset="0"/>
                <a:sym typeface="Manrope SemiBold"/>
              </a:rPr>
              <a:t> for Bharat  </a:t>
            </a:r>
          </a:p>
        </p:txBody>
      </p:sp>
      <p:sp>
        <p:nvSpPr>
          <p:cNvPr id="56" name="Google Shape;56;p13"/>
          <p:cNvSpPr txBox="1"/>
          <p:nvPr/>
        </p:nvSpPr>
        <p:spPr>
          <a:xfrm>
            <a:off x="383663" y="4184621"/>
            <a:ext cx="8579602" cy="801757"/>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None/>
            </a:pPr>
            <a:r>
              <a:rPr lang="en-US" sz="2000" dirty="0">
                <a:solidFill>
                  <a:srgbClr val="202729"/>
                </a:solidFill>
                <a:latin typeface="Calibri" panose="020F0502020204030204" pitchFamily="34" charset="0"/>
                <a:ea typeface="Manrope SemiBold"/>
                <a:cs typeface="Calibri" panose="020F0502020204030204" pitchFamily="34" charset="0"/>
                <a:sym typeface="Manrope SemiBold"/>
              </a:rPr>
              <a:t>Problem Statement : Build an AI-powered multilingual solution that helps rural Indian citizens discover government schemes they are eligible for.</a:t>
            </a:r>
            <a:endParaRPr lang="en-GB" sz="2000" dirty="0">
              <a:solidFill>
                <a:srgbClr val="202729"/>
              </a:solidFill>
              <a:latin typeface="Calibri" panose="020F0502020204030204" pitchFamily="34" charset="0"/>
              <a:ea typeface="Manrope SemiBold"/>
              <a:cs typeface="Calibri" panose="020F0502020204030204" pitchFamily="34" charset="0"/>
              <a:sym typeface="Manrope SemiBold"/>
            </a:endParaRPr>
          </a:p>
        </p:txBody>
      </p:sp>
      <p:sp>
        <p:nvSpPr>
          <p:cNvPr id="57" name="Google Shape;57;p13"/>
          <p:cNvSpPr txBox="1"/>
          <p:nvPr/>
        </p:nvSpPr>
        <p:spPr>
          <a:xfrm>
            <a:off x="383663" y="3805648"/>
            <a:ext cx="8520600" cy="443700"/>
          </a:xfrm>
          <a:prstGeom prst="rect">
            <a:avLst/>
          </a:prstGeom>
          <a:noFill/>
          <a:ln>
            <a:noFill/>
          </a:ln>
        </p:spPr>
        <p:txBody>
          <a:bodyPr spcFirstLastPara="1" wrap="square" lIns="91425" tIns="91425" rIns="91425" bIns="91425" anchor="t" anchorCtr="0">
            <a:normAutofit/>
          </a:bodyPr>
          <a:lstStyle/>
          <a:p>
            <a:pPr marL="0" lvl="0" indent="0" algn="l" rtl="0">
              <a:lnSpc>
                <a:spcPct val="80000"/>
              </a:lnSpc>
              <a:spcBef>
                <a:spcPts val="0"/>
              </a:spcBef>
              <a:spcAft>
                <a:spcPts val="0"/>
              </a:spcAft>
              <a:buNone/>
            </a:pPr>
            <a:r>
              <a:rPr lang="en-GB" sz="2000" dirty="0">
                <a:solidFill>
                  <a:srgbClr val="202729"/>
                </a:solidFill>
                <a:latin typeface="Calibri" panose="020F0502020204030204" pitchFamily="34" charset="0"/>
                <a:ea typeface="Manrope SemiBold"/>
                <a:cs typeface="Calibri" panose="020F0502020204030204" pitchFamily="34" charset="0"/>
                <a:sym typeface="Manrope SemiBold"/>
              </a:rPr>
              <a:t>Team Leader Name : Rishi Yogi L.N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pic>
        <p:nvPicPr>
          <p:cNvPr id="62" name="Google Shape;62;p14"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63" name="Google Shape;63;p14"/>
          <p:cNvSpPr txBox="1"/>
          <p:nvPr/>
        </p:nvSpPr>
        <p:spPr>
          <a:xfrm>
            <a:off x="261038" y="621446"/>
            <a:ext cx="8448785" cy="4207112"/>
          </a:xfrm>
          <a:prstGeom prst="rect">
            <a:avLst/>
          </a:prstGeom>
          <a:noFill/>
          <a:ln>
            <a:noFill/>
          </a:ln>
        </p:spPr>
        <p:txBody>
          <a:bodyPr spcFirstLastPara="1" wrap="square" lIns="91425" tIns="91425" rIns="91425" bIns="91425" anchor="t" anchorCtr="0">
            <a:normAutofit fontScale="92500"/>
          </a:bodyPr>
          <a:lstStyle/>
          <a:p>
            <a:pPr marL="0" lvl="0" indent="0" algn="l" rtl="0">
              <a:lnSpc>
                <a:spcPct val="115000"/>
              </a:lnSpc>
              <a:spcBef>
                <a:spcPts val="0"/>
              </a:spcBef>
              <a:spcAft>
                <a:spcPts val="1200"/>
              </a:spcAft>
              <a:buSzPts val="935"/>
              <a:buNone/>
            </a:pPr>
            <a:r>
              <a:rPr lang="en-GB" b="1" dirty="0">
                <a:solidFill>
                  <a:srgbClr val="202729"/>
                </a:solidFill>
                <a:latin typeface="Calibri" panose="020F0502020204030204" pitchFamily="34" charset="0"/>
                <a:ea typeface="Manrope"/>
                <a:cs typeface="Calibri" panose="020F0502020204030204" pitchFamily="34" charset="0"/>
                <a:sym typeface="Manrope"/>
              </a:rPr>
              <a:t>Brief about the Idea: </a:t>
            </a:r>
          </a:p>
          <a:p>
            <a:pPr marL="0" lvl="0" indent="0" algn="l" rtl="0">
              <a:lnSpc>
                <a:spcPct val="115000"/>
              </a:lnSpc>
              <a:spcBef>
                <a:spcPts val="0"/>
              </a:spcBef>
              <a:spcAft>
                <a:spcPts val="1200"/>
              </a:spcAft>
              <a:buSzPts val="935"/>
              <a:buNone/>
            </a:pPr>
            <a:r>
              <a:rPr lang="en-US" b="1" dirty="0">
                <a:solidFill>
                  <a:srgbClr val="202729"/>
                </a:solidFill>
                <a:latin typeface="Calibri" panose="020F0502020204030204" pitchFamily="34" charset="0"/>
                <a:ea typeface="Manrope"/>
                <a:cs typeface="Calibri" panose="020F0502020204030204" pitchFamily="34" charset="0"/>
                <a:sym typeface="Manrope"/>
              </a:rPr>
              <a:t>Project Summary – </a:t>
            </a:r>
            <a:r>
              <a:rPr lang="en-US" b="1" dirty="0" err="1">
                <a:solidFill>
                  <a:srgbClr val="202729"/>
                </a:solidFill>
                <a:latin typeface="Calibri" panose="020F0502020204030204" pitchFamily="34" charset="0"/>
                <a:ea typeface="Manrope"/>
                <a:cs typeface="Calibri" panose="020F0502020204030204" pitchFamily="34" charset="0"/>
                <a:sym typeface="Manrope"/>
              </a:rPr>
              <a:t>AICloud</a:t>
            </a:r>
            <a:r>
              <a:rPr lang="en-US" b="1" dirty="0">
                <a:solidFill>
                  <a:srgbClr val="202729"/>
                </a:solidFill>
                <a:latin typeface="Calibri" panose="020F0502020204030204" pitchFamily="34" charset="0"/>
                <a:ea typeface="Manrope"/>
                <a:cs typeface="Calibri" panose="020F0502020204030204" pitchFamily="34" charset="0"/>
                <a:sym typeface="Manrope"/>
              </a:rPr>
              <a:t> for Bharat</a:t>
            </a:r>
          </a:p>
          <a:p>
            <a:pPr marL="285750" lvl="0" indent="-285750" algn="l" rtl="0">
              <a:lnSpc>
                <a:spcPct val="115000"/>
              </a:lnSpc>
              <a:spcBef>
                <a:spcPts val="0"/>
              </a:spcBef>
              <a:spcAft>
                <a:spcPts val="1200"/>
              </a:spcAft>
              <a:buSzPts val="935"/>
              <a:buFont typeface="Wingdings" panose="05000000000000000000" pitchFamily="2" charset="2"/>
              <a:buChar char="q"/>
            </a:pPr>
            <a:r>
              <a:rPr lang="en-US" dirty="0" err="1">
                <a:solidFill>
                  <a:srgbClr val="202729"/>
                </a:solidFill>
                <a:latin typeface="Calibri" panose="020F0502020204030204" pitchFamily="34" charset="0"/>
                <a:ea typeface="Manrope"/>
                <a:cs typeface="Calibri" panose="020F0502020204030204" pitchFamily="34" charset="0"/>
                <a:sym typeface="Manrope"/>
              </a:rPr>
              <a:t>AICloud</a:t>
            </a:r>
            <a:r>
              <a:rPr lang="en-US" dirty="0">
                <a:solidFill>
                  <a:srgbClr val="202729"/>
                </a:solidFill>
                <a:latin typeface="Calibri" panose="020F0502020204030204" pitchFamily="34" charset="0"/>
                <a:ea typeface="Manrope"/>
                <a:cs typeface="Calibri" panose="020F0502020204030204" pitchFamily="34" charset="0"/>
                <a:sym typeface="Manrope"/>
              </a:rPr>
              <a:t> for Bharat is a multilingual AI assistant designed to help rural citizens discover government schemes they are eligible for.</a:t>
            </a:r>
          </a:p>
          <a:p>
            <a:pPr marL="285750" lvl="0" indent="-285750">
              <a:lnSpc>
                <a:spcPct val="115000"/>
              </a:lnSpc>
              <a:spcAft>
                <a:spcPts val="1200"/>
              </a:spcAft>
              <a:buSzPts val="935"/>
              <a:buFont typeface="Wingdings" panose="05000000000000000000" pitchFamily="2" charset="2"/>
              <a:buChar char="q"/>
            </a:pPr>
            <a:r>
              <a:rPr lang="en-US" dirty="0">
                <a:solidFill>
                  <a:srgbClr val="202729"/>
                </a:solidFill>
                <a:latin typeface="Calibri" panose="020F0502020204030204" pitchFamily="34" charset="0"/>
                <a:ea typeface="Manrope"/>
                <a:cs typeface="Calibri" panose="020F0502020204030204" pitchFamily="34" charset="0"/>
                <a:sym typeface="Manrope"/>
              </a:rPr>
              <a:t>The solution leverages </a:t>
            </a:r>
            <a:r>
              <a:rPr lang="en-US" b="1" dirty="0">
                <a:solidFill>
                  <a:srgbClr val="202729"/>
                </a:solidFill>
                <a:latin typeface="Calibri" panose="020F0502020204030204" pitchFamily="34" charset="0"/>
                <a:ea typeface="Manrope"/>
                <a:cs typeface="Calibri" panose="020F0502020204030204" pitchFamily="34" charset="0"/>
                <a:sym typeface="Manrope"/>
              </a:rPr>
              <a:t>AWS</a:t>
            </a:r>
            <a:r>
              <a:rPr lang="en-US" dirty="0">
                <a:solidFill>
                  <a:srgbClr val="202729"/>
                </a:solidFill>
                <a:latin typeface="Calibri" panose="020F0502020204030204" pitchFamily="34" charset="0"/>
                <a:ea typeface="Manrope"/>
                <a:cs typeface="Calibri" panose="020F0502020204030204" pitchFamily="34" charset="0"/>
                <a:sym typeface="Manrope"/>
              </a:rPr>
              <a:t> </a:t>
            </a:r>
            <a:r>
              <a:rPr lang="en-US" b="1" dirty="0">
                <a:solidFill>
                  <a:srgbClr val="202729"/>
                </a:solidFill>
                <a:latin typeface="Calibri" panose="020F0502020204030204" pitchFamily="34" charset="0"/>
                <a:ea typeface="Manrope"/>
                <a:cs typeface="Calibri" panose="020F0502020204030204" pitchFamily="34" charset="0"/>
                <a:sym typeface="Manrope"/>
              </a:rPr>
              <a:t>services</a:t>
            </a:r>
            <a:r>
              <a:rPr lang="en-US" dirty="0">
                <a:solidFill>
                  <a:srgbClr val="202729"/>
                </a:solidFill>
                <a:latin typeface="Calibri" panose="020F0502020204030204" pitchFamily="34" charset="0"/>
                <a:ea typeface="Manrope"/>
                <a:cs typeface="Calibri" panose="020F0502020204030204" pitchFamily="34" charset="0"/>
                <a:sym typeface="Manrope"/>
              </a:rPr>
              <a:t> such as </a:t>
            </a:r>
            <a:r>
              <a:rPr lang="en-US" b="1" dirty="0">
                <a:solidFill>
                  <a:srgbClr val="202729"/>
                </a:solidFill>
                <a:latin typeface="Calibri" panose="020F0502020204030204" pitchFamily="34" charset="0"/>
                <a:ea typeface="Manrope"/>
                <a:cs typeface="Calibri" panose="020F0502020204030204" pitchFamily="34" charset="0"/>
                <a:sym typeface="Manrope"/>
              </a:rPr>
              <a:t>Lambda</a:t>
            </a:r>
            <a:r>
              <a:rPr lang="en-US" dirty="0">
                <a:solidFill>
                  <a:srgbClr val="202729"/>
                </a:solidFill>
                <a:latin typeface="Calibri" panose="020F0502020204030204" pitchFamily="34" charset="0"/>
                <a:ea typeface="Manrope"/>
                <a:cs typeface="Calibri" panose="020F0502020204030204" pitchFamily="34" charset="0"/>
                <a:sym typeface="Manrope"/>
              </a:rPr>
              <a:t>, </a:t>
            </a:r>
            <a:r>
              <a:rPr lang="en-US" b="1" dirty="0">
                <a:solidFill>
                  <a:srgbClr val="202729"/>
                </a:solidFill>
                <a:latin typeface="Calibri" panose="020F0502020204030204" pitchFamily="34" charset="0"/>
                <a:ea typeface="Manrope"/>
                <a:cs typeface="Calibri" panose="020F0502020204030204" pitchFamily="34" charset="0"/>
                <a:sym typeface="Manrope"/>
              </a:rPr>
              <a:t>Bedrock (Nova 2, Titan)</a:t>
            </a:r>
            <a:r>
              <a:rPr lang="en-US" dirty="0">
                <a:solidFill>
                  <a:srgbClr val="202729"/>
                </a:solidFill>
                <a:latin typeface="Calibri" panose="020F0502020204030204" pitchFamily="34" charset="0"/>
                <a:ea typeface="Manrope"/>
                <a:cs typeface="Calibri" panose="020F0502020204030204" pitchFamily="34" charset="0"/>
                <a:sym typeface="Manrope"/>
              </a:rPr>
              <a:t>, </a:t>
            </a:r>
            <a:r>
              <a:rPr lang="en-US" b="1" dirty="0">
                <a:solidFill>
                  <a:srgbClr val="202729"/>
                </a:solidFill>
                <a:latin typeface="Calibri" panose="020F0502020204030204" pitchFamily="34" charset="0"/>
                <a:ea typeface="Manrope"/>
                <a:cs typeface="Calibri" panose="020F0502020204030204" pitchFamily="34" charset="0"/>
                <a:sym typeface="Manrope"/>
              </a:rPr>
              <a:t>S3</a:t>
            </a:r>
            <a:r>
              <a:rPr lang="en-US" dirty="0">
                <a:solidFill>
                  <a:srgbClr val="202729"/>
                </a:solidFill>
                <a:latin typeface="Calibri" panose="020F0502020204030204" pitchFamily="34" charset="0"/>
                <a:ea typeface="Manrope"/>
                <a:cs typeface="Calibri" panose="020F0502020204030204" pitchFamily="34" charset="0"/>
                <a:sym typeface="Manrope"/>
              </a:rPr>
              <a:t>,  </a:t>
            </a:r>
            <a:r>
              <a:rPr lang="en-US" b="1" dirty="0">
                <a:solidFill>
                  <a:srgbClr val="202729"/>
                </a:solidFill>
                <a:latin typeface="Calibri" panose="020F0502020204030204" pitchFamily="34" charset="0"/>
                <a:ea typeface="Manrope"/>
                <a:cs typeface="Calibri" panose="020F0502020204030204" pitchFamily="34" charset="0"/>
                <a:sym typeface="Manrope"/>
              </a:rPr>
              <a:t>EC2</a:t>
            </a:r>
            <a:r>
              <a:rPr lang="en-US" dirty="0">
                <a:solidFill>
                  <a:srgbClr val="202729"/>
                </a:solidFill>
                <a:latin typeface="Calibri" panose="020F0502020204030204" pitchFamily="34" charset="0"/>
                <a:ea typeface="Manrope"/>
                <a:cs typeface="Calibri" panose="020F0502020204030204" pitchFamily="34" charset="0"/>
                <a:sym typeface="Manrope"/>
              </a:rPr>
              <a:t>, </a:t>
            </a:r>
            <a:r>
              <a:rPr lang="en-US" b="1" dirty="0">
                <a:solidFill>
                  <a:srgbClr val="202729"/>
                </a:solidFill>
                <a:latin typeface="Calibri" panose="020F0502020204030204" pitchFamily="34" charset="0"/>
                <a:ea typeface="Manrope"/>
                <a:cs typeface="Calibri" panose="020F0502020204030204" pitchFamily="34" charset="0"/>
                <a:sym typeface="Manrope"/>
              </a:rPr>
              <a:t>API Gateway</a:t>
            </a:r>
            <a:r>
              <a:rPr lang="en-US" dirty="0">
                <a:solidFill>
                  <a:srgbClr val="202729"/>
                </a:solidFill>
                <a:latin typeface="Calibri" panose="020F0502020204030204" pitchFamily="34" charset="0"/>
                <a:ea typeface="Manrope"/>
                <a:cs typeface="Calibri" panose="020F0502020204030204" pitchFamily="34" charset="0"/>
                <a:sym typeface="Manrope"/>
              </a:rPr>
              <a:t>, </a:t>
            </a:r>
            <a:r>
              <a:rPr lang="en-US" b="1" dirty="0">
                <a:solidFill>
                  <a:srgbClr val="202729"/>
                </a:solidFill>
                <a:latin typeface="Calibri" panose="020F0502020204030204" pitchFamily="34" charset="0"/>
                <a:ea typeface="Manrope"/>
                <a:cs typeface="Calibri" panose="020F0502020204030204" pitchFamily="34" charset="0"/>
                <a:sym typeface="Manrope"/>
              </a:rPr>
              <a:t>CloudFront</a:t>
            </a:r>
            <a:r>
              <a:rPr lang="en-US" dirty="0">
                <a:solidFill>
                  <a:srgbClr val="202729"/>
                </a:solidFill>
                <a:latin typeface="Calibri" panose="020F0502020204030204" pitchFamily="34" charset="0"/>
                <a:ea typeface="Manrope"/>
                <a:cs typeface="Calibri" panose="020F0502020204030204" pitchFamily="34" charset="0"/>
                <a:sym typeface="Manrope"/>
              </a:rPr>
              <a:t>, </a:t>
            </a:r>
            <a:r>
              <a:rPr lang="en-US" b="1" dirty="0">
                <a:solidFill>
                  <a:srgbClr val="202729"/>
                </a:solidFill>
                <a:latin typeface="Calibri" panose="020F0502020204030204" pitchFamily="34" charset="0"/>
                <a:ea typeface="Manrope"/>
                <a:cs typeface="Calibri" panose="020F0502020204030204" pitchFamily="34" charset="0"/>
                <a:sym typeface="Manrope"/>
              </a:rPr>
              <a:t>CloudWatch and</a:t>
            </a:r>
            <a:r>
              <a:rPr lang="en-US" dirty="0">
                <a:solidFill>
                  <a:srgbClr val="202729"/>
                </a:solidFill>
                <a:latin typeface="Calibri" panose="020F0502020204030204" pitchFamily="34" charset="0"/>
                <a:ea typeface="Manrope"/>
                <a:cs typeface="Calibri" panose="020F0502020204030204" pitchFamily="34" charset="0"/>
                <a:sym typeface="Manrope"/>
              </a:rPr>
              <a:t>, </a:t>
            </a:r>
            <a:r>
              <a:rPr lang="en-US" b="1" dirty="0" err="1">
                <a:solidFill>
                  <a:srgbClr val="202729"/>
                </a:solidFill>
                <a:latin typeface="Calibri" panose="020F0502020204030204" pitchFamily="34" charset="0"/>
                <a:ea typeface="Manrope"/>
                <a:cs typeface="Calibri" panose="020F0502020204030204" pitchFamily="34" charset="0"/>
                <a:sym typeface="Manrope"/>
              </a:rPr>
              <a:t>VectorDB</a:t>
            </a:r>
            <a:r>
              <a:rPr lang="en-US" dirty="0">
                <a:solidFill>
                  <a:srgbClr val="202729"/>
                </a:solidFill>
                <a:latin typeface="Calibri" panose="020F0502020204030204" pitchFamily="34" charset="0"/>
                <a:ea typeface="Manrope"/>
                <a:cs typeface="Calibri" panose="020F0502020204030204" pitchFamily="34" charset="0"/>
                <a:sym typeface="Manrope"/>
              </a:rPr>
              <a:t>  to deliver a scalable, cloud‑native platform. </a:t>
            </a:r>
          </a:p>
          <a:p>
            <a:pPr marL="285750" lvl="0" indent="-285750">
              <a:lnSpc>
                <a:spcPct val="115000"/>
              </a:lnSpc>
              <a:spcAft>
                <a:spcPts val="1200"/>
              </a:spcAft>
              <a:buSzPts val="935"/>
              <a:buFont typeface="Wingdings" panose="05000000000000000000" pitchFamily="2" charset="2"/>
              <a:buChar char="q"/>
            </a:pPr>
            <a:r>
              <a:rPr lang="en-US" dirty="0">
                <a:solidFill>
                  <a:srgbClr val="202729"/>
                </a:solidFill>
                <a:latin typeface="Calibri" panose="020F0502020204030204" pitchFamily="34" charset="0"/>
                <a:ea typeface="Manrope"/>
                <a:cs typeface="Calibri" panose="020F0502020204030204" pitchFamily="34" charset="0"/>
                <a:sym typeface="Manrope"/>
              </a:rPr>
              <a:t>Using </a:t>
            </a:r>
            <a:r>
              <a:rPr lang="en-US" b="1" dirty="0">
                <a:solidFill>
                  <a:srgbClr val="202729"/>
                </a:solidFill>
                <a:latin typeface="Calibri" panose="020F0502020204030204" pitchFamily="34" charset="0"/>
                <a:ea typeface="Manrope"/>
                <a:cs typeface="Calibri" panose="020F0502020204030204" pitchFamily="34" charset="0"/>
                <a:sym typeface="Manrope"/>
              </a:rPr>
              <a:t>Retrieval‑Augmented Generation (RAG), </a:t>
            </a:r>
            <a:r>
              <a:rPr lang="en-US" dirty="0">
                <a:solidFill>
                  <a:srgbClr val="202729"/>
                </a:solidFill>
                <a:latin typeface="Calibri" panose="020F0502020204030204" pitchFamily="34" charset="0"/>
                <a:ea typeface="Manrope"/>
                <a:cs typeface="Calibri" panose="020F0502020204030204" pitchFamily="34" charset="0"/>
                <a:sym typeface="Manrope"/>
              </a:rPr>
              <a:t>the system interprets complex eligibility conditions from official documents and transforms them into simplified, actionable next step guidance in Local regional languages.</a:t>
            </a:r>
          </a:p>
          <a:p>
            <a:pPr marL="285750" lvl="0" indent="-285750" algn="l" rtl="0">
              <a:lnSpc>
                <a:spcPct val="115000"/>
              </a:lnSpc>
              <a:spcBef>
                <a:spcPts val="0"/>
              </a:spcBef>
              <a:spcAft>
                <a:spcPts val="1200"/>
              </a:spcAft>
              <a:buSzPts val="935"/>
              <a:buFont typeface="Wingdings" panose="05000000000000000000" pitchFamily="2" charset="2"/>
              <a:buChar char="q"/>
            </a:pPr>
            <a:r>
              <a:rPr lang="en-US" dirty="0">
                <a:solidFill>
                  <a:srgbClr val="202729"/>
                </a:solidFill>
                <a:latin typeface="Calibri" panose="020F0502020204030204" pitchFamily="34" charset="0"/>
                <a:ea typeface="Manrope"/>
                <a:cs typeface="Calibri" panose="020F0502020204030204" pitchFamily="34" charset="0"/>
                <a:sym typeface="Manrope"/>
              </a:rPr>
              <a:t>By combining AI with AWS infrastructure, the platform ensures accessibility, accuracy and trust.</a:t>
            </a:r>
          </a:p>
          <a:p>
            <a:pPr marL="285750" indent="-285750">
              <a:lnSpc>
                <a:spcPct val="115000"/>
              </a:lnSpc>
              <a:spcAft>
                <a:spcPts val="1200"/>
              </a:spcAft>
              <a:buSzPts val="935"/>
              <a:buFont typeface="Wingdings" panose="05000000000000000000" pitchFamily="2" charset="2"/>
              <a:buChar char="q"/>
            </a:pPr>
            <a:r>
              <a:rPr lang="en-US" dirty="0">
                <a:solidFill>
                  <a:srgbClr val="202729"/>
                </a:solidFill>
                <a:latin typeface="Calibri" panose="020F0502020204030204" pitchFamily="34" charset="0"/>
                <a:ea typeface="Manrope"/>
                <a:cs typeface="Calibri" panose="020F0502020204030204" pitchFamily="34" charset="0"/>
                <a:sym typeface="Manrope"/>
              </a:rPr>
              <a:t>Citizens receive clear next steps, reducing misinformation and preventing exploitation. </a:t>
            </a:r>
          </a:p>
          <a:p>
            <a:pPr marL="285750" indent="-285750">
              <a:lnSpc>
                <a:spcPct val="115000"/>
              </a:lnSpc>
              <a:spcAft>
                <a:spcPts val="1200"/>
              </a:spcAft>
              <a:buSzPts val="935"/>
              <a:buFont typeface="Wingdings" panose="05000000000000000000" pitchFamily="2" charset="2"/>
              <a:buChar char="q"/>
            </a:pPr>
            <a:r>
              <a:rPr lang="en-US" dirty="0">
                <a:solidFill>
                  <a:srgbClr val="202729"/>
                </a:solidFill>
                <a:latin typeface="Calibri" panose="020F0502020204030204" pitchFamily="34" charset="0"/>
                <a:ea typeface="Manrope"/>
                <a:cs typeface="Calibri" panose="020F0502020204030204" pitchFamily="34" charset="0"/>
                <a:sym typeface="Manrope"/>
              </a:rPr>
              <a:t>This empowers individuals to claim welfare benefits effectively, promoting inclusive and sustainable socio‑economic growth across Bharat.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32B44B28-D189-E00E-C44B-179C9BD42EAE}"/>
            </a:ext>
          </a:extLst>
        </p:cNvPr>
        <p:cNvGrpSpPr/>
        <p:nvPr/>
      </p:nvGrpSpPr>
      <p:grpSpPr>
        <a:xfrm>
          <a:off x="0" y="0"/>
          <a:ext cx="0" cy="0"/>
          <a:chOff x="0" y="0"/>
          <a:chExt cx="0" cy="0"/>
        </a:xfrm>
      </p:grpSpPr>
      <p:pic>
        <p:nvPicPr>
          <p:cNvPr id="62" name="Google Shape;62;p14" title="Artboarddfghjk – 6.png">
            <a:extLst>
              <a:ext uri="{FF2B5EF4-FFF2-40B4-BE49-F238E27FC236}">
                <a16:creationId xmlns:a16="http://schemas.microsoft.com/office/drawing/2014/main" id="{E18D4A6D-5328-1D3C-3398-866A89041471}"/>
              </a:ext>
            </a:extLst>
          </p:cNvPr>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63" name="Google Shape;63;p14">
            <a:extLst>
              <a:ext uri="{FF2B5EF4-FFF2-40B4-BE49-F238E27FC236}">
                <a16:creationId xmlns:a16="http://schemas.microsoft.com/office/drawing/2014/main" id="{DA621185-4B0D-94E1-92AF-29BB41CD7A8B}"/>
              </a:ext>
            </a:extLst>
          </p:cNvPr>
          <p:cNvSpPr txBox="1"/>
          <p:nvPr/>
        </p:nvSpPr>
        <p:spPr>
          <a:xfrm>
            <a:off x="261038" y="789410"/>
            <a:ext cx="8448785" cy="4039147"/>
          </a:xfrm>
          <a:prstGeom prst="rect">
            <a:avLst/>
          </a:prstGeom>
          <a:noFill/>
          <a:ln>
            <a:noFill/>
          </a:ln>
        </p:spPr>
        <p:txBody>
          <a:bodyPr spcFirstLastPara="1" wrap="square" lIns="91425" tIns="91425" rIns="91425" bIns="91425" anchor="t" anchorCtr="0">
            <a:normAutofit fontScale="92500" lnSpcReduction="10000"/>
          </a:bodyPr>
          <a:lstStyle/>
          <a:p>
            <a:pPr marL="0" lvl="0" indent="0" algn="l" rtl="0">
              <a:lnSpc>
                <a:spcPct val="120000"/>
              </a:lnSpc>
              <a:spcBef>
                <a:spcPts val="0"/>
              </a:spcBef>
              <a:spcAft>
                <a:spcPts val="1200"/>
              </a:spcAft>
              <a:buSzPts val="935"/>
              <a:buNone/>
            </a:pPr>
            <a:r>
              <a:rPr lang="en-US" b="1" dirty="0">
                <a:solidFill>
                  <a:srgbClr val="202729"/>
                </a:solidFill>
                <a:latin typeface="Calibri" panose="020F0502020204030204" pitchFamily="34" charset="0"/>
                <a:ea typeface="Manrope"/>
                <a:cs typeface="Calibri" panose="020F0502020204030204" pitchFamily="34" charset="0"/>
                <a:sym typeface="Manrope"/>
              </a:rPr>
              <a:t>Why AI is required in your solution ?</a:t>
            </a:r>
            <a:br>
              <a:rPr lang="en-US" b="1" dirty="0">
                <a:solidFill>
                  <a:srgbClr val="202729"/>
                </a:solidFill>
                <a:latin typeface="Calibri" panose="020F0502020204030204" pitchFamily="34" charset="0"/>
                <a:ea typeface="Manrope"/>
                <a:cs typeface="Calibri" panose="020F0502020204030204" pitchFamily="34" charset="0"/>
                <a:sym typeface="Manrope"/>
              </a:rPr>
            </a:br>
            <a:r>
              <a:rPr lang="en-US" dirty="0">
                <a:solidFill>
                  <a:srgbClr val="202729"/>
                </a:solidFill>
                <a:latin typeface="Calibri" panose="020F0502020204030204" pitchFamily="34" charset="0"/>
                <a:ea typeface="Manrope"/>
                <a:cs typeface="Calibri" panose="020F0502020204030204" pitchFamily="34" charset="0"/>
                <a:sym typeface="Manrope"/>
              </a:rPr>
              <a:t>The normal architecture used is called </a:t>
            </a:r>
            <a:r>
              <a:rPr lang="en-US" b="1" i="1" dirty="0">
                <a:solidFill>
                  <a:srgbClr val="202729"/>
                </a:solidFill>
                <a:latin typeface="Calibri" panose="020F0502020204030204" pitchFamily="34" charset="0"/>
                <a:ea typeface="Manrope"/>
                <a:cs typeface="Calibri" panose="020F0502020204030204" pitchFamily="34" charset="0"/>
                <a:sym typeface="Manrope"/>
              </a:rPr>
              <a:t>Rule‑based architecture</a:t>
            </a:r>
            <a:r>
              <a:rPr lang="en-US" dirty="0">
                <a:solidFill>
                  <a:srgbClr val="202729"/>
                </a:solidFill>
                <a:latin typeface="Calibri" panose="020F0502020204030204" pitchFamily="34" charset="0"/>
                <a:ea typeface="Manrope"/>
                <a:cs typeface="Calibri" panose="020F0502020204030204" pitchFamily="34" charset="0"/>
                <a:sym typeface="Manrope"/>
              </a:rPr>
              <a:t>, in which a system makes decisions using predefined “IF – THEN” rules. Its main drawback is rigidity: it cannot adapt to New or unforeseen data, requires constant manual updates, and scales poorly compared to modern AI approaches. </a:t>
            </a:r>
          </a:p>
          <a:p>
            <a:pPr lvl="0" algn="l" rtl="0">
              <a:lnSpc>
                <a:spcPct val="120000"/>
              </a:lnSpc>
              <a:spcBef>
                <a:spcPts val="0"/>
              </a:spcBef>
              <a:buSzPts val="935"/>
            </a:pPr>
            <a:r>
              <a:rPr lang="en-US" b="1" dirty="0">
                <a:solidFill>
                  <a:srgbClr val="202729"/>
                </a:solidFill>
                <a:latin typeface="Calibri" panose="020F0502020204030204" pitchFamily="34" charset="0"/>
                <a:ea typeface="Manrope"/>
                <a:cs typeface="Calibri" panose="020F0502020204030204" pitchFamily="34" charset="0"/>
                <a:sym typeface="Manrope"/>
              </a:rPr>
              <a:t>Why Rule-Based Systems Fail and AI is Required regarding this Project ?</a:t>
            </a:r>
          </a:p>
          <a:p>
            <a:pPr marL="285750" lvl="0" indent="-285750" algn="l" rtl="0">
              <a:lnSpc>
                <a:spcPct val="120000"/>
              </a:lnSpc>
              <a:spcBef>
                <a:spcPts val="0"/>
              </a:spcBef>
              <a:buSzPts val="935"/>
              <a:buFont typeface="Wingdings" panose="05000000000000000000" pitchFamily="2" charset="2"/>
              <a:buChar char="v"/>
            </a:pPr>
            <a:r>
              <a:rPr lang="en-US" dirty="0">
                <a:solidFill>
                  <a:srgbClr val="202729"/>
                </a:solidFill>
                <a:latin typeface="Calibri" panose="020F0502020204030204" pitchFamily="34" charset="0"/>
                <a:ea typeface="Manrope"/>
                <a:cs typeface="Calibri" panose="020F0502020204030204" pitchFamily="34" charset="0"/>
                <a:sym typeface="Manrope"/>
              </a:rPr>
              <a:t>Scheme eligibility criteria are not simple yes/no conditions. </a:t>
            </a:r>
          </a:p>
          <a:p>
            <a:pPr marL="285750" lvl="0" indent="-285750">
              <a:lnSpc>
                <a:spcPct val="120000"/>
              </a:lnSpc>
              <a:buSzPts val="935"/>
              <a:buFont typeface="Wingdings" panose="05000000000000000000" pitchFamily="2" charset="2"/>
              <a:buChar char="v"/>
            </a:pPr>
            <a:r>
              <a:rPr lang="en-US" dirty="0">
                <a:solidFill>
                  <a:srgbClr val="202729"/>
                </a:solidFill>
                <a:latin typeface="Calibri" panose="020F0502020204030204" pitchFamily="34" charset="0"/>
                <a:ea typeface="Manrope"/>
                <a:cs typeface="Calibri" panose="020F0502020204030204" pitchFamily="34" charset="0"/>
                <a:sym typeface="Manrope"/>
              </a:rPr>
              <a:t>Government scheme eligibility involves Complex and Contextual Eligibility Rules.</a:t>
            </a:r>
          </a:p>
          <a:p>
            <a:pPr marL="285750" lvl="0" indent="-285750" algn="l" rtl="0">
              <a:lnSpc>
                <a:spcPct val="120000"/>
              </a:lnSpc>
              <a:spcBef>
                <a:spcPts val="0"/>
              </a:spcBef>
              <a:buSzPts val="935"/>
              <a:buFont typeface="Wingdings" panose="05000000000000000000" pitchFamily="2" charset="2"/>
              <a:buChar char="v"/>
            </a:pPr>
            <a:r>
              <a:rPr lang="en-US" dirty="0">
                <a:solidFill>
                  <a:srgbClr val="202729"/>
                </a:solidFill>
                <a:latin typeface="Calibri" panose="020F0502020204030204" pitchFamily="34" charset="0"/>
                <a:ea typeface="Manrope"/>
                <a:cs typeface="Calibri" panose="020F0502020204030204" pitchFamily="34" charset="0"/>
                <a:sym typeface="Manrope"/>
              </a:rPr>
              <a:t>Dynamic and Evolving Schemes: Government schemes are frequently updated, merged, or replaced. </a:t>
            </a:r>
          </a:p>
          <a:p>
            <a:pPr marL="285750" lvl="0" indent="-285750" algn="l" rtl="0">
              <a:lnSpc>
                <a:spcPct val="120000"/>
              </a:lnSpc>
              <a:spcBef>
                <a:spcPts val="0"/>
              </a:spcBef>
              <a:buSzPts val="935"/>
              <a:buFont typeface="Wingdings" panose="05000000000000000000" pitchFamily="2" charset="2"/>
              <a:buChar char="v"/>
            </a:pPr>
            <a:r>
              <a:rPr lang="en-US" dirty="0">
                <a:solidFill>
                  <a:srgbClr val="202729"/>
                </a:solidFill>
                <a:latin typeface="Calibri" panose="020F0502020204030204" pitchFamily="34" charset="0"/>
                <a:ea typeface="Manrope"/>
                <a:cs typeface="Calibri" panose="020F0502020204030204" pitchFamily="34" charset="0"/>
                <a:sym typeface="Manrope"/>
              </a:rPr>
              <a:t>New schemes are launched regularly. </a:t>
            </a:r>
          </a:p>
          <a:p>
            <a:pPr marL="0" lvl="0" indent="0" algn="l" rtl="0">
              <a:lnSpc>
                <a:spcPct val="120000"/>
              </a:lnSpc>
              <a:spcBef>
                <a:spcPts val="0"/>
              </a:spcBef>
              <a:buSzPts val="935"/>
              <a:buNone/>
            </a:pPr>
            <a:br>
              <a:rPr lang="en-US" dirty="0">
                <a:solidFill>
                  <a:srgbClr val="202729"/>
                </a:solidFill>
                <a:latin typeface="Calibri" panose="020F0502020204030204" pitchFamily="34" charset="0"/>
                <a:ea typeface="Manrope"/>
                <a:cs typeface="Calibri" panose="020F0502020204030204" pitchFamily="34" charset="0"/>
                <a:sym typeface="Manrope"/>
              </a:rPr>
            </a:br>
            <a:r>
              <a:rPr lang="en-US" b="1" dirty="0">
                <a:solidFill>
                  <a:srgbClr val="202729"/>
                </a:solidFill>
                <a:latin typeface="Calibri" panose="020F0502020204030204" pitchFamily="34" charset="0"/>
                <a:ea typeface="Manrope"/>
                <a:cs typeface="Calibri" panose="020F0502020204030204" pitchFamily="34" charset="0"/>
                <a:sym typeface="Manrope"/>
              </a:rPr>
              <a:t>Drawbacks in Rule-based</a:t>
            </a:r>
          </a:p>
          <a:p>
            <a:pPr marL="0" lvl="0" indent="0" algn="l" rtl="0">
              <a:lnSpc>
                <a:spcPct val="120000"/>
              </a:lnSpc>
              <a:spcBef>
                <a:spcPts val="0"/>
              </a:spcBef>
              <a:buSzPts val="935"/>
              <a:buNone/>
            </a:pPr>
            <a:r>
              <a:rPr lang="en-US" dirty="0">
                <a:solidFill>
                  <a:srgbClr val="202729"/>
                </a:solidFill>
                <a:latin typeface="Calibri" panose="020F0502020204030204" pitchFamily="34" charset="0"/>
                <a:ea typeface="Manrope"/>
                <a:cs typeface="Calibri" panose="020F0502020204030204" pitchFamily="34" charset="0"/>
                <a:sym typeface="Manrope"/>
              </a:rPr>
              <a:t>Rule-based systems require manual updates to decision trees and filters for every change, making them impossible to maintain at scale across hundreds of schemes and multiple languages.</a:t>
            </a:r>
          </a:p>
          <a:p>
            <a:pPr marL="0" lvl="0" indent="0" algn="l" rtl="0">
              <a:lnSpc>
                <a:spcPct val="120000"/>
              </a:lnSpc>
              <a:spcBef>
                <a:spcPts val="0"/>
              </a:spcBef>
              <a:buSzPts val="935"/>
              <a:buNone/>
            </a:pPr>
            <a:endParaRPr lang="en-US" dirty="0">
              <a:solidFill>
                <a:srgbClr val="202729"/>
              </a:solidFill>
              <a:latin typeface="Calibri" panose="020F0502020204030204" pitchFamily="34" charset="0"/>
              <a:ea typeface="Manrope"/>
              <a:cs typeface="Calibri" panose="020F0502020204030204" pitchFamily="34" charset="0"/>
              <a:sym typeface="Manrope"/>
            </a:endParaRPr>
          </a:p>
          <a:p>
            <a:pPr marL="285750" lvl="0" indent="-285750" algn="l" rtl="0">
              <a:lnSpc>
                <a:spcPct val="120000"/>
              </a:lnSpc>
              <a:spcBef>
                <a:spcPts val="0"/>
              </a:spcBef>
              <a:buSzPts val="935"/>
              <a:buFont typeface="Wingdings" panose="05000000000000000000" pitchFamily="2" charset="2"/>
              <a:buChar char="v"/>
            </a:pPr>
            <a:r>
              <a:rPr lang="en-US" dirty="0">
                <a:solidFill>
                  <a:srgbClr val="202729"/>
                </a:solidFill>
                <a:latin typeface="Calibri" panose="020F0502020204030204" pitchFamily="34" charset="0"/>
                <a:ea typeface="Manrope"/>
                <a:cs typeface="Calibri" panose="020F0502020204030204" pitchFamily="34" charset="0"/>
                <a:sym typeface="Manrope"/>
              </a:rPr>
              <a:t>This is why </a:t>
            </a:r>
            <a:r>
              <a:rPr lang="en-US" b="1" dirty="0">
                <a:solidFill>
                  <a:srgbClr val="202729"/>
                </a:solidFill>
                <a:highlight>
                  <a:srgbClr val="FFFF00"/>
                </a:highlight>
                <a:latin typeface="Calibri" panose="020F0502020204030204" pitchFamily="34" charset="0"/>
                <a:ea typeface="Manrope"/>
                <a:cs typeface="Calibri" panose="020F0502020204030204" pitchFamily="34" charset="0"/>
                <a:sym typeface="Manrope"/>
              </a:rPr>
              <a:t>AI </a:t>
            </a:r>
            <a:r>
              <a:rPr lang="en-US" dirty="0">
                <a:solidFill>
                  <a:srgbClr val="202729"/>
                </a:solidFill>
                <a:highlight>
                  <a:srgbClr val="FFFF00"/>
                </a:highlight>
                <a:latin typeface="Calibri" panose="020F0502020204030204" pitchFamily="34" charset="0"/>
                <a:ea typeface="Manrope"/>
                <a:cs typeface="Calibri" panose="020F0502020204030204" pitchFamily="34" charset="0"/>
                <a:sym typeface="Manrope"/>
              </a:rPr>
              <a:t>is much needed</a:t>
            </a:r>
            <a:r>
              <a:rPr lang="en-US" dirty="0">
                <a:solidFill>
                  <a:srgbClr val="202729"/>
                </a:solidFill>
                <a:latin typeface="Calibri" panose="020F0502020204030204" pitchFamily="34" charset="0"/>
                <a:ea typeface="Manrope"/>
                <a:cs typeface="Calibri" panose="020F0502020204030204" pitchFamily="34" charset="0"/>
                <a:sym typeface="Manrope"/>
              </a:rPr>
              <a:t>, not just beneficial but necessary for making government schemes accessible to rural India at scale.</a:t>
            </a:r>
            <a:endParaRPr lang="en-US" dirty="0">
              <a:sym typeface="Manrope"/>
            </a:endParaRPr>
          </a:p>
          <a:p>
            <a:pPr marL="0" lvl="0" indent="0" algn="l" rtl="0">
              <a:lnSpc>
                <a:spcPct val="115000"/>
              </a:lnSpc>
              <a:spcBef>
                <a:spcPts val="0"/>
              </a:spcBef>
              <a:spcAft>
                <a:spcPts val="1200"/>
              </a:spcAft>
              <a:buSzPts val="935"/>
              <a:buNone/>
            </a:pPr>
            <a:endParaRPr lang="en-US" b="1" dirty="0">
              <a:solidFill>
                <a:srgbClr val="202729"/>
              </a:solidFill>
              <a:latin typeface="Calibri" panose="020F0502020204030204" pitchFamily="34" charset="0"/>
              <a:ea typeface="Manrope"/>
              <a:cs typeface="Calibri" panose="020F0502020204030204" pitchFamily="34" charset="0"/>
              <a:sym typeface="Manrope"/>
            </a:endParaRPr>
          </a:p>
          <a:p>
            <a:pPr marL="0" lvl="0" indent="0" algn="l" rtl="0">
              <a:lnSpc>
                <a:spcPct val="115000"/>
              </a:lnSpc>
              <a:spcBef>
                <a:spcPts val="0"/>
              </a:spcBef>
              <a:spcAft>
                <a:spcPts val="1200"/>
              </a:spcAft>
              <a:buSzPts val="935"/>
              <a:buNone/>
            </a:pPr>
            <a:endParaRPr lang="en-US" b="1" dirty="0">
              <a:solidFill>
                <a:srgbClr val="202729"/>
              </a:solidFill>
              <a:latin typeface="Calibri" panose="020F0502020204030204" pitchFamily="34" charset="0"/>
              <a:ea typeface="Manrope"/>
              <a:cs typeface="Calibri" panose="020F0502020204030204" pitchFamily="34" charset="0"/>
              <a:sym typeface="Manrope"/>
            </a:endParaRPr>
          </a:p>
        </p:txBody>
      </p:sp>
    </p:spTree>
    <p:extLst>
      <p:ext uri="{BB962C8B-B14F-4D97-AF65-F5344CB8AC3E}">
        <p14:creationId xmlns:p14="http://schemas.microsoft.com/office/powerpoint/2010/main" val="19649013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6CB8FDDC-9FAD-F309-312D-943FB9384384}"/>
            </a:ext>
          </a:extLst>
        </p:cNvPr>
        <p:cNvGrpSpPr/>
        <p:nvPr/>
      </p:nvGrpSpPr>
      <p:grpSpPr>
        <a:xfrm>
          <a:off x="0" y="0"/>
          <a:ext cx="0" cy="0"/>
          <a:chOff x="0" y="0"/>
          <a:chExt cx="0" cy="0"/>
        </a:xfrm>
      </p:grpSpPr>
      <p:pic>
        <p:nvPicPr>
          <p:cNvPr id="62" name="Google Shape;62;p14" title="Artboarddfghjk – 6.png">
            <a:extLst>
              <a:ext uri="{FF2B5EF4-FFF2-40B4-BE49-F238E27FC236}">
                <a16:creationId xmlns:a16="http://schemas.microsoft.com/office/drawing/2014/main" id="{0872FC9D-D82F-A7AC-0C8B-A9F50A721D34}"/>
              </a:ext>
            </a:extLst>
          </p:cNvPr>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63" name="Google Shape;63;p14">
            <a:extLst>
              <a:ext uri="{FF2B5EF4-FFF2-40B4-BE49-F238E27FC236}">
                <a16:creationId xmlns:a16="http://schemas.microsoft.com/office/drawing/2014/main" id="{39EFD8B1-B8D9-8970-26A7-E8BCCF54D8EB}"/>
              </a:ext>
            </a:extLst>
          </p:cNvPr>
          <p:cNvSpPr txBox="1"/>
          <p:nvPr/>
        </p:nvSpPr>
        <p:spPr>
          <a:xfrm>
            <a:off x="138145" y="657745"/>
            <a:ext cx="5212204" cy="300140"/>
          </a:xfrm>
          <a:prstGeom prst="rect">
            <a:avLst/>
          </a:prstGeom>
          <a:noFill/>
          <a:ln>
            <a:noFill/>
          </a:ln>
        </p:spPr>
        <p:txBody>
          <a:bodyPr spcFirstLastPara="1" wrap="square" lIns="91425" tIns="91425" rIns="91425" bIns="91425" anchor="t" anchorCtr="0">
            <a:noAutofit/>
          </a:bodyPr>
          <a:lstStyle/>
          <a:p>
            <a:pPr marL="0" lvl="0" indent="0" algn="l" rtl="0">
              <a:lnSpc>
                <a:spcPct val="120000"/>
              </a:lnSpc>
              <a:spcBef>
                <a:spcPts val="0"/>
              </a:spcBef>
              <a:buSzPts val="935"/>
              <a:buNone/>
            </a:pPr>
            <a:r>
              <a:rPr lang="en-US" b="1" dirty="0">
                <a:solidFill>
                  <a:srgbClr val="202729"/>
                </a:solidFill>
                <a:latin typeface="Calibri" panose="020F0502020204030204" pitchFamily="34" charset="0"/>
                <a:ea typeface="Manrope"/>
                <a:cs typeface="Calibri" panose="020F0502020204030204" pitchFamily="34" charset="0"/>
                <a:sym typeface="Manrope"/>
              </a:rPr>
              <a:t>How AWS services are used within your architecture?</a:t>
            </a:r>
          </a:p>
        </p:txBody>
      </p:sp>
      <p:sp>
        <p:nvSpPr>
          <p:cNvPr id="5" name="TextBox 4">
            <a:extLst>
              <a:ext uri="{FF2B5EF4-FFF2-40B4-BE49-F238E27FC236}">
                <a16:creationId xmlns:a16="http://schemas.microsoft.com/office/drawing/2014/main" id="{DDE50DAD-81AD-A496-61B5-C72A02D760D7}"/>
              </a:ext>
            </a:extLst>
          </p:cNvPr>
          <p:cNvSpPr txBox="1"/>
          <p:nvPr/>
        </p:nvSpPr>
        <p:spPr>
          <a:xfrm>
            <a:off x="138145" y="1061163"/>
            <a:ext cx="5462360" cy="3424592"/>
          </a:xfrm>
          <a:prstGeom prst="rect">
            <a:avLst/>
          </a:prstGeom>
          <a:noFill/>
        </p:spPr>
        <p:txBody>
          <a:bodyPr wrap="square">
            <a:spAutoFit/>
          </a:bodyPr>
          <a:lstStyle/>
          <a:p>
            <a:pPr lvl="0">
              <a:lnSpc>
                <a:spcPct val="115000"/>
              </a:lnSpc>
              <a:buSzPts val="935"/>
            </a:pPr>
            <a:r>
              <a:rPr lang="en-US" sz="1200" b="1" dirty="0">
                <a:solidFill>
                  <a:srgbClr val="202729"/>
                </a:solidFill>
                <a:latin typeface="Calibri" panose="020F0502020204030204" pitchFamily="34" charset="0"/>
                <a:ea typeface="Manrope"/>
                <a:cs typeface="Calibri" panose="020F0502020204030204" pitchFamily="34" charset="0"/>
                <a:sym typeface="Manrope"/>
              </a:rPr>
              <a:t>The architecture is a hybrid serverless design:</a:t>
            </a:r>
          </a:p>
          <a:p>
            <a:pPr lvl="0">
              <a:lnSpc>
                <a:spcPct val="115000"/>
              </a:lnSpc>
              <a:buSzPts val="935"/>
            </a:pPr>
            <a:endParaRPr lang="en-US" sz="1200" b="1" dirty="0">
              <a:solidFill>
                <a:srgbClr val="202729"/>
              </a:solidFill>
              <a:latin typeface="Calibri" panose="020F0502020204030204" pitchFamily="34" charset="0"/>
              <a:ea typeface="Manrope"/>
              <a:cs typeface="Calibri" panose="020F0502020204030204" pitchFamily="34" charset="0"/>
              <a:sym typeface="Manrope"/>
            </a:endParaRPr>
          </a:p>
          <a:p>
            <a:pPr marL="171450" lvl="0" indent="-171450">
              <a:lnSpc>
                <a:spcPct val="115000"/>
              </a:lnSpc>
              <a:buSzPts val="935"/>
              <a:buFont typeface="Wingdings" panose="05000000000000000000" pitchFamily="2" charset="2"/>
              <a:buChar char="ü"/>
            </a:pPr>
            <a:r>
              <a:rPr lang="en-US" sz="1100" b="1" dirty="0">
                <a:solidFill>
                  <a:srgbClr val="202729"/>
                </a:solidFill>
                <a:latin typeface="Calibri" panose="020F0502020204030204" pitchFamily="34" charset="0"/>
                <a:ea typeface="Manrope"/>
                <a:cs typeface="Calibri" panose="020F0502020204030204" pitchFamily="34" charset="0"/>
                <a:sym typeface="Manrope"/>
              </a:rPr>
              <a:t>AWS Lambda</a:t>
            </a:r>
          </a:p>
          <a:p>
            <a:pPr lvl="0">
              <a:lnSpc>
                <a:spcPct val="115000"/>
              </a:lnSpc>
              <a:buSzPts val="935"/>
            </a:pPr>
            <a:r>
              <a:rPr lang="en-US" sz="1100" dirty="0">
                <a:solidFill>
                  <a:srgbClr val="202729"/>
                </a:solidFill>
                <a:latin typeface="Calibri" panose="020F0502020204030204" pitchFamily="34" charset="0"/>
                <a:ea typeface="Manrope"/>
                <a:cs typeface="Calibri" panose="020F0502020204030204" pitchFamily="34" charset="0"/>
                <a:sym typeface="Manrope"/>
              </a:rPr>
              <a:t>     Implements serverless logic for ingestion, RAG orchestration, and PDF generation.</a:t>
            </a:r>
          </a:p>
          <a:p>
            <a:pPr lvl="0">
              <a:lnSpc>
                <a:spcPct val="115000"/>
              </a:lnSpc>
              <a:buSzPts val="935"/>
            </a:pPr>
            <a:r>
              <a:rPr lang="en-US" sz="1100" dirty="0">
                <a:solidFill>
                  <a:srgbClr val="202729"/>
                </a:solidFill>
                <a:latin typeface="Calibri" panose="020F0502020204030204" pitchFamily="34" charset="0"/>
                <a:ea typeface="Manrope"/>
                <a:cs typeface="Calibri" panose="020F0502020204030204" pitchFamily="34" charset="0"/>
                <a:sym typeface="Manrope"/>
              </a:rPr>
              <a:t>     Scales automatically with user demand.</a:t>
            </a:r>
          </a:p>
          <a:p>
            <a:pPr lvl="0">
              <a:lnSpc>
                <a:spcPct val="115000"/>
              </a:lnSpc>
              <a:buSzPts val="935"/>
            </a:pPr>
            <a:endParaRPr lang="en-US" sz="1100" dirty="0">
              <a:solidFill>
                <a:srgbClr val="202729"/>
              </a:solidFill>
              <a:latin typeface="Calibri" panose="020F0502020204030204" pitchFamily="34" charset="0"/>
              <a:ea typeface="Manrope"/>
              <a:cs typeface="Calibri" panose="020F0502020204030204" pitchFamily="34" charset="0"/>
              <a:sym typeface="Manrope"/>
            </a:endParaRPr>
          </a:p>
          <a:p>
            <a:pPr marL="171450" lvl="0" indent="-171450">
              <a:lnSpc>
                <a:spcPct val="115000"/>
              </a:lnSpc>
              <a:buSzPts val="935"/>
              <a:buFont typeface="Wingdings" panose="05000000000000000000" pitchFamily="2" charset="2"/>
              <a:buChar char="ü"/>
            </a:pPr>
            <a:r>
              <a:rPr lang="en-US" sz="1100" b="1" dirty="0">
                <a:solidFill>
                  <a:srgbClr val="202729"/>
                </a:solidFill>
                <a:latin typeface="Calibri" panose="020F0502020204030204" pitchFamily="34" charset="0"/>
                <a:ea typeface="Manrope"/>
                <a:cs typeface="Calibri" panose="020F0502020204030204" pitchFamily="34" charset="0"/>
                <a:sym typeface="Manrope"/>
              </a:rPr>
              <a:t>Amazon EC2 (with ChromaDB)</a:t>
            </a:r>
          </a:p>
          <a:p>
            <a:pPr lvl="0">
              <a:lnSpc>
                <a:spcPct val="115000"/>
              </a:lnSpc>
              <a:buSzPts val="935"/>
            </a:pPr>
            <a:r>
              <a:rPr lang="en-US" sz="1100" dirty="0">
                <a:solidFill>
                  <a:srgbClr val="202729"/>
                </a:solidFill>
                <a:latin typeface="Calibri" panose="020F0502020204030204" pitchFamily="34" charset="0"/>
                <a:ea typeface="Manrope"/>
                <a:cs typeface="Calibri" panose="020F0502020204030204" pitchFamily="34" charset="0"/>
                <a:sym typeface="Manrope"/>
              </a:rPr>
              <a:t>     Hosts the vector database service for embeddings.</a:t>
            </a:r>
          </a:p>
          <a:p>
            <a:pPr lvl="0">
              <a:lnSpc>
                <a:spcPct val="115000"/>
              </a:lnSpc>
              <a:buSzPts val="935"/>
            </a:pPr>
            <a:r>
              <a:rPr lang="en-US" sz="1100" dirty="0">
                <a:solidFill>
                  <a:srgbClr val="202729"/>
                </a:solidFill>
                <a:latin typeface="Calibri" panose="020F0502020204030204" pitchFamily="34" charset="0"/>
                <a:ea typeface="Manrope"/>
                <a:cs typeface="Calibri" panose="020F0502020204030204" pitchFamily="34" charset="0"/>
                <a:sym typeface="Manrope"/>
              </a:rPr>
              <a:t>     Provides fast retrieval of relevant government scheme documents.</a:t>
            </a:r>
          </a:p>
          <a:p>
            <a:pPr lvl="0">
              <a:lnSpc>
                <a:spcPct val="115000"/>
              </a:lnSpc>
              <a:buSzPts val="935"/>
            </a:pPr>
            <a:endParaRPr lang="en-US" sz="1100" dirty="0">
              <a:solidFill>
                <a:srgbClr val="202729"/>
              </a:solidFill>
              <a:latin typeface="Calibri" panose="020F0502020204030204" pitchFamily="34" charset="0"/>
              <a:ea typeface="Manrope"/>
              <a:cs typeface="Calibri" panose="020F0502020204030204" pitchFamily="34" charset="0"/>
              <a:sym typeface="Manrope"/>
            </a:endParaRPr>
          </a:p>
          <a:p>
            <a:pPr marL="171450" lvl="0" indent="-171450">
              <a:lnSpc>
                <a:spcPct val="115000"/>
              </a:lnSpc>
              <a:buSzPts val="935"/>
              <a:buFont typeface="Wingdings" panose="05000000000000000000" pitchFamily="2" charset="2"/>
              <a:buChar char="ü"/>
            </a:pPr>
            <a:r>
              <a:rPr lang="en-US" sz="1100" b="1" dirty="0">
                <a:solidFill>
                  <a:srgbClr val="202729"/>
                </a:solidFill>
                <a:latin typeface="Calibri" panose="020F0502020204030204" pitchFamily="34" charset="0"/>
                <a:ea typeface="Manrope"/>
                <a:cs typeface="Calibri" panose="020F0502020204030204" pitchFamily="34" charset="0"/>
                <a:sym typeface="Manrope"/>
              </a:rPr>
              <a:t>Amazon Bedrock (Nova 2, Titan)</a:t>
            </a:r>
          </a:p>
          <a:p>
            <a:pPr lvl="0">
              <a:lnSpc>
                <a:spcPct val="115000"/>
              </a:lnSpc>
              <a:buSzPts val="935"/>
            </a:pPr>
            <a:r>
              <a:rPr lang="en-US" sz="1100" dirty="0">
                <a:solidFill>
                  <a:srgbClr val="202729"/>
                </a:solidFill>
                <a:latin typeface="Calibri" panose="020F0502020204030204" pitchFamily="34" charset="0"/>
                <a:ea typeface="Manrope"/>
                <a:cs typeface="Calibri" panose="020F0502020204030204" pitchFamily="34" charset="0"/>
                <a:sym typeface="Manrope"/>
              </a:rPr>
              <a:t>     Supplies the AI foundation models for natural language understanding.</a:t>
            </a:r>
          </a:p>
          <a:p>
            <a:pPr lvl="0">
              <a:lnSpc>
                <a:spcPct val="115000"/>
              </a:lnSpc>
              <a:buSzPts val="935"/>
            </a:pPr>
            <a:r>
              <a:rPr lang="en-US" sz="1100" dirty="0">
                <a:solidFill>
                  <a:srgbClr val="202729"/>
                </a:solidFill>
                <a:latin typeface="Calibri" panose="020F0502020204030204" pitchFamily="34" charset="0"/>
                <a:ea typeface="Manrope"/>
                <a:cs typeface="Calibri" panose="020F0502020204030204" pitchFamily="34" charset="0"/>
                <a:sym typeface="Manrope"/>
              </a:rPr>
              <a:t>     Powers multilingual query interpretation and simplified scheme explanations.</a:t>
            </a:r>
          </a:p>
          <a:p>
            <a:pPr lvl="0">
              <a:lnSpc>
                <a:spcPct val="115000"/>
              </a:lnSpc>
              <a:buSzPts val="935"/>
            </a:pPr>
            <a:endParaRPr lang="en-US" sz="1100" dirty="0">
              <a:solidFill>
                <a:srgbClr val="202729"/>
              </a:solidFill>
              <a:latin typeface="Calibri" panose="020F0502020204030204" pitchFamily="34" charset="0"/>
              <a:ea typeface="Manrope"/>
              <a:cs typeface="Calibri" panose="020F0502020204030204" pitchFamily="34" charset="0"/>
              <a:sym typeface="Manrope"/>
            </a:endParaRPr>
          </a:p>
          <a:p>
            <a:pPr marL="171450" lvl="0" indent="-171450">
              <a:lnSpc>
                <a:spcPct val="115000"/>
              </a:lnSpc>
              <a:buSzPts val="935"/>
              <a:buFont typeface="Wingdings" panose="05000000000000000000" pitchFamily="2" charset="2"/>
              <a:buChar char="ü"/>
            </a:pPr>
            <a:r>
              <a:rPr lang="en-US" sz="1100" b="1" dirty="0">
                <a:solidFill>
                  <a:srgbClr val="202729"/>
                </a:solidFill>
                <a:latin typeface="Calibri" panose="020F0502020204030204" pitchFamily="34" charset="0"/>
                <a:ea typeface="Manrope"/>
                <a:cs typeface="Calibri" panose="020F0502020204030204" pitchFamily="34" charset="0"/>
                <a:sym typeface="Manrope"/>
              </a:rPr>
              <a:t>Amazon CloudWatch</a:t>
            </a:r>
          </a:p>
          <a:p>
            <a:pPr lvl="2">
              <a:lnSpc>
                <a:spcPct val="115000"/>
              </a:lnSpc>
              <a:buSzPts val="935"/>
            </a:pPr>
            <a:r>
              <a:rPr lang="en-US" sz="1100" dirty="0">
                <a:solidFill>
                  <a:srgbClr val="202729"/>
                </a:solidFill>
                <a:latin typeface="Calibri" panose="020F0502020204030204" pitchFamily="34" charset="0"/>
                <a:ea typeface="Manrope"/>
                <a:cs typeface="Calibri" panose="020F0502020204030204" pitchFamily="34" charset="0"/>
                <a:sym typeface="Manrope"/>
              </a:rPr>
              <a:t>     Monitors Lambda executions, API Gateway calls, and EC2 performance.</a:t>
            </a:r>
          </a:p>
          <a:p>
            <a:pPr lvl="2">
              <a:lnSpc>
                <a:spcPct val="115000"/>
              </a:lnSpc>
              <a:buSzPts val="935"/>
            </a:pPr>
            <a:r>
              <a:rPr lang="en-US" sz="1100" dirty="0">
                <a:solidFill>
                  <a:srgbClr val="202729"/>
                </a:solidFill>
                <a:latin typeface="Calibri" panose="020F0502020204030204" pitchFamily="34" charset="0"/>
                <a:ea typeface="Manrope"/>
                <a:cs typeface="Calibri" panose="020F0502020204030204" pitchFamily="34" charset="0"/>
                <a:sym typeface="Manrope"/>
              </a:rPr>
              <a:t>     Provides logs, metrics, and alarms for observability.</a:t>
            </a:r>
            <a:endParaRPr lang="en-IN" sz="1100" dirty="0"/>
          </a:p>
        </p:txBody>
      </p:sp>
      <p:sp>
        <p:nvSpPr>
          <p:cNvPr id="7" name="TextBox 6">
            <a:extLst>
              <a:ext uri="{FF2B5EF4-FFF2-40B4-BE49-F238E27FC236}">
                <a16:creationId xmlns:a16="http://schemas.microsoft.com/office/drawing/2014/main" id="{BECD4555-1543-DB0E-3E81-2A16F4BFE0E3}"/>
              </a:ext>
            </a:extLst>
          </p:cNvPr>
          <p:cNvSpPr txBox="1"/>
          <p:nvPr/>
        </p:nvSpPr>
        <p:spPr>
          <a:xfrm>
            <a:off x="4756949" y="2264570"/>
            <a:ext cx="4064710" cy="2221185"/>
          </a:xfrm>
          <a:prstGeom prst="rect">
            <a:avLst/>
          </a:prstGeom>
          <a:noFill/>
        </p:spPr>
        <p:txBody>
          <a:bodyPr wrap="square">
            <a:spAutoFit/>
          </a:bodyPr>
          <a:lstStyle/>
          <a:p>
            <a:pPr marL="171450" lvl="0" indent="-171450">
              <a:lnSpc>
                <a:spcPct val="115000"/>
              </a:lnSpc>
              <a:buSzPts val="935"/>
              <a:buFont typeface="Wingdings" panose="05000000000000000000" pitchFamily="2" charset="2"/>
              <a:buChar char="ü"/>
            </a:pPr>
            <a:r>
              <a:rPr lang="en-US" sz="1100" b="1" dirty="0">
                <a:solidFill>
                  <a:srgbClr val="202729"/>
                </a:solidFill>
                <a:latin typeface="Calibri" panose="020F0502020204030204" pitchFamily="34" charset="0"/>
                <a:ea typeface="Manrope"/>
                <a:cs typeface="Calibri" panose="020F0502020204030204" pitchFamily="34" charset="0"/>
                <a:sym typeface="Manrope"/>
              </a:rPr>
              <a:t>Amazon S3</a:t>
            </a:r>
          </a:p>
          <a:p>
            <a:pPr lvl="0">
              <a:lnSpc>
                <a:spcPct val="115000"/>
              </a:lnSpc>
              <a:buSzPts val="935"/>
            </a:pPr>
            <a:r>
              <a:rPr lang="en-US" sz="1100" dirty="0">
                <a:solidFill>
                  <a:srgbClr val="202729"/>
                </a:solidFill>
                <a:latin typeface="Calibri" panose="020F0502020204030204" pitchFamily="34" charset="0"/>
                <a:ea typeface="Manrope"/>
                <a:cs typeface="Calibri" panose="020F0502020204030204" pitchFamily="34" charset="0"/>
                <a:sym typeface="Manrope"/>
              </a:rPr>
              <a:t>      Hosts the multilingual frontend (HTML, CSS, JS).</a:t>
            </a:r>
          </a:p>
          <a:p>
            <a:pPr lvl="0">
              <a:lnSpc>
                <a:spcPct val="115000"/>
              </a:lnSpc>
              <a:buSzPts val="935"/>
            </a:pPr>
            <a:r>
              <a:rPr lang="en-US" sz="1100" dirty="0">
                <a:solidFill>
                  <a:srgbClr val="202729"/>
                </a:solidFill>
                <a:latin typeface="Calibri" panose="020F0502020204030204" pitchFamily="34" charset="0"/>
                <a:ea typeface="Manrope"/>
                <a:cs typeface="Calibri" panose="020F0502020204030204" pitchFamily="34" charset="0"/>
                <a:sym typeface="Manrope"/>
              </a:rPr>
              <a:t>      Stores generated PDFs and other static assets.</a:t>
            </a:r>
          </a:p>
          <a:p>
            <a:pPr lvl="0">
              <a:lnSpc>
                <a:spcPct val="115000"/>
              </a:lnSpc>
              <a:buSzPts val="935"/>
            </a:pPr>
            <a:endParaRPr lang="en-US" sz="1100" dirty="0">
              <a:solidFill>
                <a:srgbClr val="202729"/>
              </a:solidFill>
              <a:latin typeface="Calibri" panose="020F0502020204030204" pitchFamily="34" charset="0"/>
              <a:ea typeface="Manrope"/>
              <a:cs typeface="Calibri" panose="020F0502020204030204" pitchFamily="34" charset="0"/>
              <a:sym typeface="Manrope"/>
            </a:endParaRPr>
          </a:p>
          <a:p>
            <a:pPr marL="171450" lvl="0" indent="-171450">
              <a:lnSpc>
                <a:spcPct val="115000"/>
              </a:lnSpc>
              <a:buSzPts val="935"/>
              <a:buFont typeface="Wingdings" panose="05000000000000000000" pitchFamily="2" charset="2"/>
              <a:buChar char="ü"/>
            </a:pPr>
            <a:r>
              <a:rPr lang="en-US" sz="1100" b="1" dirty="0">
                <a:solidFill>
                  <a:srgbClr val="202729"/>
                </a:solidFill>
                <a:latin typeface="Calibri" panose="020F0502020204030204" pitchFamily="34" charset="0"/>
                <a:ea typeface="Manrope"/>
                <a:cs typeface="Calibri" panose="020F0502020204030204" pitchFamily="34" charset="0"/>
                <a:sym typeface="Manrope"/>
              </a:rPr>
              <a:t>Amazon CloudFront</a:t>
            </a:r>
          </a:p>
          <a:p>
            <a:pPr lvl="0">
              <a:lnSpc>
                <a:spcPct val="115000"/>
              </a:lnSpc>
              <a:buSzPts val="935"/>
            </a:pPr>
            <a:r>
              <a:rPr lang="en-US" sz="1100" dirty="0">
                <a:solidFill>
                  <a:srgbClr val="202729"/>
                </a:solidFill>
                <a:latin typeface="Calibri" panose="020F0502020204030204" pitchFamily="34" charset="0"/>
                <a:ea typeface="Manrope"/>
                <a:cs typeface="Calibri" panose="020F0502020204030204" pitchFamily="34" charset="0"/>
                <a:sym typeface="Manrope"/>
              </a:rPr>
              <a:t>      Distributes the frontend globally with low latency.</a:t>
            </a:r>
          </a:p>
          <a:p>
            <a:pPr lvl="0">
              <a:lnSpc>
                <a:spcPct val="115000"/>
              </a:lnSpc>
              <a:buSzPts val="935"/>
            </a:pPr>
            <a:r>
              <a:rPr lang="en-US" sz="1100" dirty="0">
                <a:solidFill>
                  <a:srgbClr val="202729"/>
                </a:solidFill>
                <a:latin typeface="Calibri" panose="020F0502020204030204" pitchFamily="34" charset="0"/>
                <a:ea typeface="Manrope"/>
                <a:cs typeface="Calibri" panose="020F0502020204030204" pitchFamily="34" charset="0"/>
                <a:sym typeface="Manrope"/>
              </a:rPr>
              <a:t>      Provides secure, cached access to the S3‑hosted UI.</a:t>
            </a:r>
          </a:p>
          <a:p>
            <a:pPr lvl="0">
              <a:lnSpc>
                <a:spcPct val="115000"/>
              </a:lnSpc>
              <a:buSzPts val="935"/>
            </a:pPr>
            <a:endParaRPr lang="en-US" sz="1100" dirty="0">
              <a:solidFill>
                <a:srgbClr val="202729"/>
              </a:solidFill>
              <a:latin typeface="Calibri" panose="020F0502020204030204" pitchFamily="34" charset="0"/>
              <a:ea typeface="Manrope"/>
              <a:cs typeface="Calibri" panose="020F0502020204030204" pitchFamily="34" charset="0"/>
              <a:sym typeface="Manrope"/>
            </a:endParaRPr>
          </a:p>
          <a:p>
            <a:pPr marL="171450" lvl="0" indent="-171450">
              <a:lnSpc>
                <a:spcPct val="115000"/>
              </a:lnSpc>
              <a:buSzPts val="935"/>
              <a:buFont typeface="Wingdings" panose="05000000000000000000" pitchFamily="2" charset="2"/>
              <a:buChar char="ü"/>
            </a:pPr>
            <a:r>
              <a:rPr lang="en-US" sz="1100" b="1" dirty="0">
                <a:solidFill>
                  <a:srgbClr val="202729"/>
                </a:solidFill>
                <a:latin typeface="Calibri" panose="020F0502020204030204" pitchFamily="34" charset="0"/>
                <a:ea typeface="Manrope"/>
                <a:cs typeface="Calibri" panose="020F0502020204030204" pitchFamily="34" charset="0"/>
                <a:sym typeface="Manrope"/>
              </a:rPr>
              <a:t>Amazon API Gateway</a:t>
            </a:r>
          </a:p>
          <a:p>
            <a:pPr lvl="0">
              <a:lnSpc>
                <a:spcPct val="115000"/>
              </a:lnSpc>
              <a:buSzPts val="935"/>
            </a:pPr>
            <a:r>
              <a:rPr lang="en-US" sz="1100" dirty="0">
                <a:solidFill>
                  <a:srgbClr val="202729"/>
                </a:solidFill>
                <a:latin typeface="Calibri" panose="020F0502020204030204" pitchFamily="34" charset="0"/>
                <a:ea typeface="Manrope"/>
                <a:cs typeface="Calibri" panose="020F0502020204030204" pitchFamily="34" charset="0"/>
                <a:sym typeface="Manrope"/>
              </a:rPr>
              <a:t>     Acts as the entry point for all user requests.</a:t>
            </a:r>
          </a:p>
          <a:p>
            <a:pPr lvl="0">
              <a:lnSpc>
                <a:spcPct val="115000"/>
              </a:lnSpc>
              <a:buSzPts val="935"/>
            </a:pPr>
            <a:r>
              <a:rPr lang="en-US" sz="1100" dirty="0">
                <a:solidFill>
                  <a:srgbClr val="202729"/>
                </a:solidFill>
                <a:latin typeface="Calibri" panose="020F0502020204030204" pitchFamily="34" charset="0"/>
                <a:ea typeface="Manrope"/>
                <a:cs typeface="Calibri" panose="020F0502020204030204" pitchFamily="34" charset="0"/>
                <a:sym typeface="Manrope"/>
              </a:rPr>
              <a:t>     Routes queries from the frontend to backend Lambda functions.</a:t>
            </a:r>
            <a:endParaRPr lang="en-IN" sz="1100" dirty="0"/>
          </a:p>
        </p:txBody>
      </p:sp>
    </p:spTree>
    <p:extLst>
      <p:ext uri="{BB962C8B-B14F-4D97-AF65-F5344CB8AC3E}">
        <p14:creationId xmlns:p14="http://schemas.microsoft.com/office/powerpoint/2010/main" val="5021977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C213C263-F86D-21E4-7A6C-0AECC4758EC0}"/>
            </a:ext>
          </a:extLst>
        </p:cNvPr>
        <p:cNvGrpSpPr/>
        <p:nvPr/>
      </p:nvGrpSpPr>
      <p:grpSpPr>
        <a:xfrm>
          <a:off x="0" y="0"/>
          <a:ext cx="0" cy="0"/>
          <a:chOff x="0" y="0"/>
          <a:chExt cx="0" cy="0"/>
        </a:xfrm>
      </p:grpSpPr>
      <p:pic>
        <p:nvPicPr>
          <p:cNvPr id="62" name="Google Shape;62;p14" title="Artboarddfghjk – 6.png">
            <a:extLst>
              <a:ext uri="{FF2B5EF4-FFF2-40B4-BE49-F238E27FC236}">
                <a16:creationId xmlns:a16="http://schemas.microsoft.com/office/drawing/2014/main" id="{9F1EA53B-5789-6A91-8E70-D22EDC426D8E}"/>
              </a:ext>
            </a:extLst>
          </p:cNvPr>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63" name="Google Shape;63;p14">
            <a:extLst>
              <a:ext uri="{FF2B5EF4-FFF2-40B4-BE49-F238E27FC236}">
                <a16:creationId xmlns:a16="http://schemas.microsoft.com/office/drawing/2014/main" id="{986D45FE-8605-C087-87BA-3BD68F1446D2}"/>
              </a:ext>
            </a:extLst>
          </p:cNvPr>
          <p:cNvSpPr txBox="1"/>
          <p:nvPr/>
        </p:nvSpPr>
        <p:spPr>
          <a:xfrm>
            <a:off x="226956" y="792056"/>
            <a:ext cx="5212204" cy="300140"/>
          </a:xfrm>
          <a:prstGeom prst="rect">
            <a:avLst/>
          </a:prstGeom>
          <a:noFill/>
          <a:ln>
            <a:noFill/>
          </a:ln>
        </p:spPr>
        <p:txBody>
          <a:bodyPr spcFirstLastPara="1" wrap="square" lIns="91425" tIns="91425" rIns="91425" bIns="91425" anchor="t" anchorCtr="0">
            <a:noAutofit/>
          </a:bodyPr>
          <a:lstStyle/>
          <a:p>
            <a:pPr>
              <a:lnSpc>
                <a:spcPct val="115000"/>
              </a:lnSpc>
              <a:buSzPts val="935"/>
            </a:pPr>
            <a:r>
              <a:rPr lang="en-US" b="1" dirty="0">
                <a:latin typeface="Calibri" panose="020F0502020204030204" pitchFamily="34" charset="0"/>
                <a:cs typeface="Calibri" panose="020F0502020204030204" pitchFamily="34" charset="0"/>
              </a:rPr>
              <a:t>What value the AI layer adds to the user experience? </a:t>
            </a:r>
          </a:p>
        </p:txBody>
      </p:sp>
      <p:sp>
        <p:nvSpPr>
          <p:cNvPr id="7" name="TextBox 6">
            <a:extLst>
              <a:ext uri="{FF2B5EF4-FFF2-40B4-BE49-F238E27FC236}">
                <a16:creationId xmlns:a16="http://schemas.microsoft.com/office/drawing/2014/main" id="{BFB5FAAC-2F98-D9D4-841D-9F92868F15F1}"/>
              </a:ext>
            </a:extLst>
          </p:cNvPr>
          <p:cNvSpPr txBox="1"/>
          <p:nvPr/>
        </p:nvSpPr>
        <p:spPr>
          <a:xfrm>
            <a:off x="226956" y="1324934"/>
            <a:ext cx="8538032" cy="1246816"/>
          </a:xfrm>
          <a:prstGeom prst="rect">
            <a:avLst/>
          </a:prstGeom>
          <a:noFill/>
        </p:spPr>
        <p:txBody>
          <a:bodyPr wrap="square">
            <a:spAutoFit/>
          </a:bodyPr>
          <a:lstStyle/>
          <a:p>
            <a:pPr lvl="0">
              <a:lnSpc>
                <a:spcPct val="115000"/>
              </a:lnSpc>
              <a:buSzPts val="935"/>
            </a:pPr>
            <a:r>
              <a:rPr lang="en-US" b="1" dirty="0">
                <a:latin typeface="Calibri" panose="020F0502020204030204" pitchFamily="34" charset="0"/>
                <a:cs typeface="Calibri" panose="020F0502020204030204" pitchFamily="34" charset="0"/>
              </a:rPr>
              <a:t>Language Diversity &amp; Semantic Understanding</a:t>
            </a:r>
          </a:p>
          <a:p>
            <a:pPr lvl="0">
              <a:lnSpc>
                <a:spcPct val="115000"/>
              </a:lnSpc>
              <a:buSzPts val="935"/>
            </a:pPr>
            <a:r>
              <a:rPr lang="en-US" sz="1300" dirty="0">
                <a:latin typeface="Calibri" panose="020F0502020204030204" pitchFamily="34" charset="0"/>
                <a:cs typeface="Calibri" panose="020F0502020204030204" pitchFamily="34" charset="0"/>
              </a:rPr>
              <a:t>India has 22 official languages and hundreds of dialects. Rural citizens often express their needs in local languages with varied vocabulary. Traditional keyword search or static translation fails to capture true intent.</a:t>
            </a:r>
          </a:p>
          <a:p>
            <a:pPr lvl="0">
              <a:lnSpc>
                <a:spcPct val="115000"/>
              </a:lnSpc>
              <a:buSzPts val="935"/>
            </a:pPr>
            <a:r>
              <a:rPr lang="en-US" sz="1300" dirty="0">
                <a:latin typeface="Calibri" panose="020F0502020204030204" pitchFamily="34" charset="0"/>
                <a:cs typeface="Calibri" panose="020F0502020204030204" pitchFamily="34" charset="0"/>
              </a:rPr>
              <a:t>The AI layer, powered by Retrieval‑Augmented Generation (RAG) and AWS Bedrock, understands semantic meaning across languages, interprets complex eligibility rules, and delivers simplified, actionable guidance in regional languages.</a:t>
            </a:r>
          </a:p>
        </p:txBody>
      </p:sp>
      <p:sp>
        <p:nvSpPr>
          <p:cNvPr id="6" name="TextBox 5">
            <a:extLst>
              <a:ext uri="{FF2B5EF4-FFF2-40B4-BE49-F238E27FC236}">
                <a16:creationId xmlns:a16="http://schemas.microsoft.com/office/drawing/2014/main" id="{CB9A7D85-7881-3656-2DE1-0FCE92F063AE}"/>
              </a:ext>
            </a:extLst>
          </p:cNvPr>
          <p:cNvSpPr txBox="1"/>
          <p:nvPr/>
        </p:nvSpPr>
        <p:spPr>
          <a:xfrm>
            <a:off x="226956" y="2804488"/>
            <a:ext cx="7515841" cy="1476879"/>
          </a:xfrm>
          <a:prstGeom prst="rect">
            <a:avLst/>
          </a:prstGeom>
          <a:noFill/>
        </p:spPr>
        <p:txBody>
          <a:bodyPr wrap="square">
            <a:spAutoFit/>
          </a:bodyPr>
          <a:lstStyle/>
          <a:p>
            <a:pPr lvl="0">
              <a:lnSpc>
                <a:spcPct val="115000"/>
              </a:lnSpc>
              <a:buSzPts val="935"/>
            </a:pPr>
            <a:r>
              <a:rPr lang="en-US" b="1" dirty="0">
                <a:latin typeface="Calibri" panose="020F0502020204030204" pitchFamily="34" charset="0"/>
                <a:cs typeface="Calibri" panose="020F0502020204030204" pitchFamily="34" charset="0"/>
              </a:rPr>
              <a:t>User Experience Benefits</a:t>
            </a:r>
          </a:p>
          <a:p>
            <a:pPr lvl="0">
              <a:lnSpc>
                <a:spcPct val="115000"/>
              </a:lnSpc>
              <a:buSzPts val="935"/>
            </a:pPr>
            <a:r>
              <a:rPr lang="en-US" sz="1300" dirty="0">
                <a:latin typeface="Calibri" panose="020F0502020204030204" pitchFamily="34" charset="0"/>
                <a:cs typeface="Calibri" panose="020F0502020204030204" pitchFamily="34" charset="0"/>
              </a:rPr>
              <a:t>• Citizens can ask questions naturally in their own language.</a:t>
            </a:r>
          </a:p>
          <a:p>
            <a:pPr lvl="0">
              <a:lnSpc>
                <a:spcPct val="115000"/>
              </a:lnSpc>
              <a:buSzPts val="935"/>
            </a:pPr>
            <a:r>
              <a:rPr lang="en-US" sz="1300" dirty="0">
                <a:latin typeface="Calibri" panose="020F0502020204030204" pitchFamily="34" charset="0"/>
                <a:cs typeface="Calibri" panose="020F0502020204030204" pitchFamily="34" charset="0"/>
              </a:rPr>
              <a:t>• AI interprets eligibility conditions and explains them clearly.</a:t>
            </a:r>
          </a:p>
          <a:p>
            <a:pPr lvl="0">
              <a:lnSpc>
                <a:spcPct val="115000"/>
              </a:lnSpc>
              <a:buSzPts val="935"/>
            </a:pPr>
            <a:r>
              <a:rPr lang="en-US" sz="1300" dirty="0">
                <a:latin typeface="Calibri" panose="020F0502020204030204" pitchFamily="34" charset="0"/>
                <a:cs typeface="Calibri" panose="020F0502020204030204" pitchFamily="34" charset="0"/>
              </a:rPr>
              <a:t>• Provides transparency with citations and confidence scores.</a:t>
            </a:r>
          </a:p>
          <a:p>
            <a:pPr lvl="0">
              <a:lnSpc>
                <a:spcPct val="115000"/>
              </a:lnSpc>
              <a:buSzPts val="935"/>
            </a:pPr>
            <a:r>
              <a:rPr lang="en-US" sz="1300" dirty="0">
                <a:latin typeface="Calibri" panose="020F0502020204030204" pitchFamily="34" charset="0"/>
                <a:cs typeface="Calibri" panose="020F0502020204030204" pitchFamily="34" charset="0"/>
              </a:rPr>
              <a:t>• Ensures trust by monitoring bias and logging decisions.</a:t>
            </a:r>
          </a:p>
          <a:p>
            <a:pPr lvl="0">
              <a:lnSpc>
                <a:spcPct val="115000"/>
              </a:lnSpc>
              <a:buSzPts val="935"/>
            </a:pPr>
            <a:r>
              <a:rPr lang="en-US" sz="1300" dirty="0">
                <a:latin typeface="Calibri" panose="020F0502020204030204" pitchFamily="34" charset="0"/>
                <a:cs typeface="Calibri" panose="020F0502020204030204" pitchFamily="34" charset="0"/>
              </a:rPr>
              <a:t>• Scales seamlessly through AWS serverless architecture.</a:t>
            </a:r>
            <a:endParaRPr lang="en-IN" sz="13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104626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5BBC31E4-0DAB-7CEB-3FE5-9A703598440E}"/>
            </a:ext>
          </a:extLst>
        </p:cNvPr>
        <p:cNvGrpSpPr/>
        <p:nvPr/>
      </p:nvGrpSpPr>
      <p:grpSpPr>
        <a:xfrm>
          <a:off x="0" y="0"/>
          <a:ext cx="0" cy="0"/>
          <a:chOff x="0" y="0"/>
          <a:chExt cx="0" cy="0"/>
        </a:xfrm>
      </p:grpSpPr>
      <p:pic>
        <p:nvPicPr>
          <p:cNvPr id="62" name="Google Shape;62;p14" title="Artboarddfghjk – 6.png">
            <a:extLst>
              <a:ext uri="{FF2B5EF4-FFF2-40B4-BE49-F238E27FC236}">
                <a16:creationId xmlns:a16="http://schemas.microsoft.com/office/drawing/2014/main" id="{CBD8E167-48F9-EC2A-A805-C14FF81836B4}"/>
              </a:ext>
            </a:extLst>
          </p:cNvPr>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63" name="Google Shape;63;p14">
            <a:extLst>
              <a:ext uri="{FF2B5EF4-FFF2-40B4-BE49-F238E27FC236}">
                <a16:creationId xmlns:a16="http://schemas.microsoft.com/office/drawing/2014/main" id="{704DBF96-D5BF-2361-8CF2-18A7CEE0C39A}"/>
              </a:ext>
            </a:extLst>
          </p:cNvPr>
          <p:cNvSpPr txBox="1"/>
          <p:nvPr/>
        </p:nvSpPr>
        <p:spPr>
          <a:xfrm>
            <a:off x="241619" y="621016"/>
            <a:ext cx="5212204" cy="300140"/>
          </a:xfrm>
          <a:prstGeom prst="rect">
            <a:avLst/>
          </a:prstGeom>
          <a:noFill/>
          <a:ln>
            <a:noFill/>
          </a:ln>
        </p:spPr>
        <p:txBody>
          <a:bodyPr spcFirstLastPara="1" wrap="square" lIns="91425" tIns="91425" rIns="91425" bIns="91425" anchor="t" anchorCtr="0">
            <a:noAutofit/>
          </a:bodyPr>
          <a:lstStyle/>
          <a:p>
            <a:pPr>
              <a:lnSpc>
                <a:spcPct val="115000"/>
              </a:lnSpc>
              <a:buSzPts val="935"/>
            </a:pPr>
            <a:r>
              <a:rPr lang="en-US" sz="1600" b="1" dirty="0">
                <a:latin typeface="Calibri" panose="020F0502020204030204" pitchFamily="34" charset="0"/>
                <a:cs typeface="Calibri" panose="020F0502020204030204" pitchFamily="34" charset="0"/>
              </a:rPr>
              <a:t>List of features offered by the solution</a:t>
            </a:r>
          </a:p>
        </p:txBody>
      </p:sp>
      <p:sp>
        <p:nvSpPr>
          <p:cNvPr id="3" name="TextBox 2">
            <a:extLst>
              <a:ext uri="{FF2B5EF4-FFF2-40B4-BE49-F238E27FC236}">
                <a16:creationId xmlns:a16="http://schemas.microsoft.com/office/drawing/2014/main" id="{31A52591-D760-8070-CD02-88454CC00B8B}"/>
              </a:ext>
            </a:extLst>
          </p:cNvPr>
          <p:cNvSpPr txBox="1"/>
          <p:nvPr/>
        </p:nvSpPr>
        <p:spPr>
          <a:xfrm>
            <a:off x="300825" y="1092196"/>
            <a:ext cx="4143650" cy="3493264"/>
          </a:xfrm>
          <a:prstGeom prst="rect">
            <a:avLst/>
          </a:prstGeom>
          <a:noFill/>
        </p:spPr>
        <p:txBody>
          <a:bodyPr wrap="square">
            <a:spAutoFit/>
          </a:bodyPr>
          <a:lstStyle/>
          <a:p>
            <a:pPr marL="285750" indent="-285750">
              <a:buFont typeface="Wingdings" panose="05000000000000000000" pitchFamily="2" charset="2"/>
              <a:buChar char="q"/>
            </a:pPr>
            <a:r>
              <a:rPr lang="en-IN" sz="1300" dirty="0">
                <a:latin typeface="Calibri" panose="020F0502020204030204" pitchFamily="34" charset="0"/>
                <a:cs typeface="Calibri" panose="020F0502020204030204" pitchFamily="34" charset="0"/>
              </a:rPr>
              <a:t>Multilingual support (currently designed for 3 languages).</a:t>
            </a:r>
          </a:p>
          <a:p>
            <a:pPr marL="285750" indent="-285750">
              <a:buFont typeface="Wingdings" panose="05000000000000000000" pitchFamily="2" charset="2"/>
              <a:buChar char="q"/>
            </a:pPr>
            <a:endParaRPr lang="en-IN" sz="1300" dirty="0">
              <a:latin typeface="Calibri" panose="020F0502020204030204" pitchFamily="34" charset="0"/>
              <a:cs typeface="Calibri" panose="020F0502020204030204" pitchFamily="34" charset="0"/>
            </a:endParaRPr>
          </a:p>
          <a:p>
            <a:pPr marL="285750" indent="-285750">
              <a:buFont typeface="Wingdings" panose="05000000000000000000" pitchFamily="2" charset="2"/>
              <a:buChar char="q"/>
            </a:pPr>
            <a:r>
              <a:rPr lang="en-IN" sz="1300" dirty="0">
                <a:latin typeface="Calibri" panose="020F0502020204030204" pitchFamily="34" charset="0"/>
                <a:cs typeface="Calibri" panose="020F0502020204030204" pitchFamily="34" charset="0"/>
              </a:rPr>
              <a:t>Semantic eligibility matching for accurate scheme discovery.</a:t>
            </a:r>
          </a:p>
          <a:p>
            <a:pPr marL="285750" indent="-285750">
              <a:buFont typeface="Wingdings" panose="05000000000000000000" pitchFamily="2" charset="2"/>
              <a:buChar char="q"/>
            </a:pPr>
            <a:endParaRPr lang="en-IN" sz="1300" dirty="0">
              <a:latin typeface="Calibri" panose="020F0502020204030204" pitchFamily="34" charset="0"/>
              <a:cs typeface="Calibri" panose="020F0502020204030204" pitchFamily="34" charset="0"/>
            </a:endParaRPr>
          </a:p>
          <a:p>
            <a:pPr marL="285750" indent="-285750">
              <a:buFont typeface="Wingdings" panose="05000000000000000000" pitchFamily="2" charset="2"/>
              <a:buChar char="q"/>
            </a:pPr>
            <a:r>
              <a:rPr lang="en-IN" sz="1300" dirty="0">
                <a:latin typeface="Calibri" panose="020F0502020204030204" pitchFamily="34" charset="0"/>
                <a:cs typeface="Calibri" panose="020F0502020204030204" pitchFamily="34" charset="0"/>
              </a:rPr>
              <a:t>Source citation for transparency and trust.</a:t>
            </a:r>
          </a:p>
          <a:p>
            <a:pPr marL="285750" indent="-285750">
              <a:buFont typeface="Wingdings" panose="05000000000000000000" pitchFamily="2" charset="2"/>
              <a:buChar char="q"/>
            </a:pPr>
            <a:endParaRPr lang="en-IN" sz="1300" dirty="0">
              <a:latin typeface="Calibri" panose="020F0502020204030204" pitchFamily="34" charset="0"/>
              <a:cs typeface="Calibri" panose="020F0502020204030204" pitchFamily="34" charset="0"/>
            </a:endParaRPr>
          </a:p>
          <a:p>
            <a:pPr marL="285750" indent="-285750">
              <a:buFont typeface="Wingdings" panose="05000000000000000000" pitchFamily="2" charset="2"/>
              <a:buChar char="q"/>
            </a:pPr>
            <a:r>
              <a:rPr lang="en-IN" sz="1300" dirty="0">
                <a:latin typeface="Calibri" panose="020F0502020204030204" pitchFamily="34" charset="0"/>
                <a:cs typeface="Calibri" panose="020F0502020204030204" pitchFamily="34" charset="0"/>
              </a:rPr>
              <a:t>Confidence score indicator to show reliability of answers.</a:t>
            </a:r>
          </a:p>
          <a:p>
            <a:pPr marL="285750" indent="-285750">
              <a:buFont typeface="Wingdings" panose="05000000000000000000" pitchFamily="2" charset="2"/>
              <a:buChar char="q"/>
            </a:pPr>
            <a:endParaRPr lang="en-IN" sz="1300" dirty="0">
              <a:latin typeface="Calibri" panose="020F0502020204030204" pitchFamily="34" charset="0"/>
              <a:cs typeface="Calibri" panose="020F0502020204030204" pitchFamily="34" charset="0"/>
            </a:endParaRPr>
          </a:p>
          <a:p>
            <a:pPr marL="285750" indent="-285750">
              <a:buFont typeface="Wingdings" panose="05000000000000000000" pitchFamily="2" charset="2"/>
              <a:buChar char="q"/>
            </a:pPr>
            <a:r>
              <a:rPr lang="en-IN" sz="1300" dirty="0">
                <a:latin typeface="Calibri" panose="020F0502020204030204" pitchFamily="34" charset="0"/>
                <a:cs typeface="Calibri" panose="020F0502020204030204" pitchFamily="34" charset="0"/>
              </a:rPr>
              <a:t>Bias monitoring and audit logging for fairness.</a:t>
            </a:r>
          </a:p>
          <a:p>
            <a:pPr marL="285750" indent="-285750">
              <a:buFont typeface="Wingdings" panose="05000000000000000000" pitchFamily="2" charset="2"/>
              <a:buChar char="q"/>
            </a:pPr>
            <a:endParaRPr lang="en-IN" sz="1300" dirty="0">
              <a:latin typeface="Calibri" panose="020F0502020204030204" pitchFamily="34" charset="0"/>
              <a:cs typeface="Calibri" panose="020F0502020204030204" pitchFamily="34" charset="0"/>
            </a:endParaRPr>
          </a:p>
          <a:p>
            <a:pPr marL="285750" indent="-285750">
              <a:buFont typeface="Wingdings" panose="05000000000000000000" pitchFamily="2" charset="2"/>
              <a:buChar char="q"/>
            </a:pPr>
            <a:r>
              <a:rPr lang="en-IN" sz="1300" dirty="0">
                <a:latin typeface="Calibri" panose="020F0502020204030204" pitchFamily="34" charset="0"/>
                <a:cs typeface="Calibri" panose="020F0502020204030204" pitchFamily="34" charset="0"/>
              </a:rPr>
              <a:t>Secure cloud‑native deployment leveraging AWS services.</a:t>
            </a:r>
          </a:p>
          <a:p>
            <a:pPr marL="285750" indent="-285750">
              <a:buFont typeface="Wingdings" panose="05000000000000000000" pitchFamily="2" charset="2"/>
              <a:buChar char="q"/>
            </a:pPr>
            <a:endParaRPr lang="en-IN" sz="1300" dirty="0">
              <a:latin typeface="Calibri" panose="020F0502020204030204" pitchFamily="34" charset="0"/>
              <a:cs typeface="Calibri" panose="020F0502020204030204" pitchFamily="34" charset="0"/>
            </a:endParaRPr>
          </a:p>
          <a:p>
            <a:pPr marL="285750" indent="-285750">
              <a:buFont typeface="Wingdings" panose="05000000000000000000" pitchFamily="2" charset="2"/>
              <a:buChar char="q"/>
            </a:pPr>
            <a:r>
              <a:rPr lang="en-IN" sz="1300" dirty="0">
                <a:latin typeface="Calibri" panose="020F0502020204030204" pitchFamily="34" charset="0"/>
                <a:cs typeface="Calibri" panose="020F0502020204030204" pitchFamily="34" charset="0"/>
              </a:rPr>
              <a:t>Scalable API architecture to handle growing demand.</a:t>
            </a:r>
          </a:p>
        </p:txBody>
      </p:sp>
      <p:pic>
        <p:nvPicPr>
          <p:cNvPr id="4" name="Picture 3">
            <a:extLst>
              <a:ext uri="{FF2B5EF4-FFF2-40B4-BE49-F238E27FC236}">
                <a16:creationId xmlns:a16="http://schemas.microsoft.com/office/drawing/2014/main" id="{70203364-C4E2-09B4-98A3-CFE2A2074E78}"/>
              </a:ext>
            </a:extLst>
          </p:cNvPr>
          <p:cNvPicPr>
            <a:picLocks noChangeAspect="1"/>
          </p:cNvPicPr>
          <p:nvPr/>
        </p:nvPicPr>
        <p:blipFill>
          <a:blip r:embed="rId4"/>
          <a:stretch>
            <a:fillRect/>
          </a:stretch>
        </p:blipFill>
        <p:spPr>
          <a:xfrm>
            <a:off x="4444475" y="1092196"/>
            <a:ext cx="4153424" cy="2715045"/>
          </a:xfrm>
          <a:prstGeom prst="rect">
            <a:avLst/>
          </a:prstGeom>
        </p:spPr>
      </p:pic>
    </p:spTree>
    <p:extLst>
      <p:ext uri="{BB962C8B-B14F-4D97-AF65-F5344CB8AC3E}">
        <p14:creationId xmlns:p14="http://schemas.microsoft.com/office/powerpoint/2010/main" val="24418490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pic>
        <p:nvPicPr>
          <p:cNvPr id="80" name="Google Shape;80;p17"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81" name="Google Shape;81;p17"/>
          <p:cNvSpPr txBox="1"/>
          <p:nvPr/>
        </p:nvSpPr>
        <p:spPr>
          <a:xfrm>
            <a:off x="79787" y="554364"/>
            <a:ext cx="7531800" cy="697965"/>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935"/>
              <a:buNone/>
            </a:pPr>
            <a:r>
              <a:rPr lang="en-GB" sz="1700" b="1" dirty="0">
                <a:solidFill>
                  <a:srgbClr val="202729"/>
                </a:solidFill>
                <a:latin typeface="Manrope"/>
                <a:ea typeface="Manrope"/>
                <a:cs typeface="Manrope"/>
                <a:sym typeface="Manrope"/>
              </a:rPr>
              <a:t>Process flow diagram:</a:t>
            </a:r>
            <a:endParaRPr dirty="0">
              <a:solidFill>
                <a:srgbClr val="434343"/>
              </a:solidFill>
              <a:latin typeface="Manrope"/>
              <a:ea typeface="Manrope"/>
              <a:cs typeface="Manrope"/>
              <a:sym typeface="Manrope"/>
            </a:endParaRPr>
          </a:p>
        </p:txBody>
      </p:sp>
      <p:sp>
        <p:nvSpPr>
          <p:cNvPr id="2" name="Rectangle: Rounded Corners 1">
            <a:extLst>
              <a:ext uri="{FF2B5EF4-FFF2-40B4-BE49-F238E27FC236}">
                <a16:creationId xmlns:a16="http://schemas.microsoft.com/office/drawing/2014/main" id="{5C469863-E3F4-02E3-C8B5-5A659503A227}"/>
              </a:ext>
            </a:extLst>
          </p:cNvPr>
          <p:cNvSpPr/>
          <p:nvPr/>
        </p:nvSpPr>
        <p:spPr>
          <a:xfrm>
            <a:off x="530001" y="1285928"/>
            <a:ext cx="1083093" cy="417887"/>
          </a:xfrm>
          <a:prstGeom prst="roundRect">
            <a:avLst>
              <a:gd name="adj" fmla="val 20382"/>
            </a:avLst>
          </a:prstGeom>
          <a:solidFill>
            <a:srgbClr val="00B0F0"/>
          </a:solidFill>
          <a:effectLst>
            <a:outerShdw blurRad="50800" dist="38100" dir="8100000" algn="tr" rotWithShape="0">
              <a:prstClr val="black">
                <a:alpha val="40000"/>
              </a:prstClr>
            </a:outerShdw>
          </a:effectLst>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1200" dirty="0"/>
              <a:t>User</a:t>
            </a:r>
            <a:endParaRPr lang="en-IN" sz="1200" dirty="0"/>
          </a:p>
        </p:txBody>
      </p:sp>
      <p:sp>
        <p:nvSpPr>
          <p:cNvPr id="3" name="Rectangle: Rounded Corners 2">
            <a:extLst>
              <a:ext uri="{FF2B5EF4-FFF2-40B4-BE49-F238E27FC236}">
                <a16:creationId xmlns:a16="http://schemas.microsoft.com/office/drawing/2014/main" id="{7A4F341F-2BCE-B87D-312E-451F95B5ED8F}"/>
              </a:ext>
            </a:extLst>
          </p:cNvPr>
          <p:cNvSpPr/>
          <p:nvPr/>
        </p:nvSpPr>
        <p:spPr>
          <a:xfrm>
            <a:off x="2774052" y="1285928"/>
            <a:ext cx="1389977" cy="417887"/>
          </a:xfrm>
          <a:prstGeom prst="roundRect">
            <a:avLst>
              <a:gd name="adj" fmla="val 20382"/>
            </a:avLst>
          </a:prstGeom>
          <a:solidFill>
            <a:srgbClr val="FF5050"/>
          </a:solidFill>
          <a:effectLst>
            <a:outerShdw blurRad="50800" dist="38100" dir="8100000" algn="tr" rotWithShape="0">
              <a:prstClr val="black">
                <a:alpha val="40000"/>
              </a:prstClr>
            </a:outerShdw>
          </a:effectLst>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1200" dirty="0"/>
              <a:t>Input Collection</a:t>
            </a:r>
            <a:endParaRPr lang="en-IN" sz="1200" dirty="0"/>
          </a:p>
        </p:txBody>
      </p:sp>
      <p:sp>
        <p:nvSpPr>
          <p:cNvPr id="4" name="Rectangle: Rounded Corners 3">
            <a:extLst>
              <a:ext uri="{FF2B5EF4-FFF2-40B4-BE49-F238E27FC236}">
                <a16:creationId xmlns:a16="http://schemas.microsoft.com/office/drawing/2014/main" id="{4686DFC0-76A2-C44B-0F8D-D13724C44897}"/>
              </a:ext>
            </a:extLst>
          </p:cNvPr>
          <p:cNvSpPr/>
          <p:nvPr/>
        </p:nvSpPr>
        <p:spPr>
          <a:xfrm>
            <a:off x="5346096" y="1285928"/>
            <a:ext cx="1083093" cy="417887"/>
          </a:xfrm>
          <a:prstGeom prst="roundRect">
            <a:avLst>
              <a:gd name="adj" fmla="val 20382"/>
            </a:avLst>
          </a:prstGeom>
          <a:solidFill>
            <a:srgbClr val="FFC000"/>
          </a:solidFill>
          <a:effectLst>
            <a:outerShdw blurRad="50800" dist="38100" dir="8100000" algn="tr" rotWithShape="0">
              <a:prstClr val="black">
                <a:alpha val="40000"/>
              </a:prstClr>
            </a:outerShdw>
          </a:effectLst>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1200" dirty="0"/>
              <a:t>API Layer</a:t>
            </a:r>
            <a:endParaRPr lang="en-IN" sz="1200" dirty="0"/>
          </a:p>
        </p:txBody>
      </p:sp>
      <p:sp>
        <p:nvSpPr>
          <p:cNvPr id="5" name="Rectangle: Rounded Corners 4">
            <a:extLst>
              <a:ext uri="{FF2B5EF4-FFF2-40B4-BE49-F238E27FC236}">
                <a16:creationId xmlns:a16="http://schemas.microsoft.com/office/drawing/2014/main" id="{29658D37-85D6-2303-06FC-4BF14CE59C4F}"/>
              </a:ext>
            </a:extLst>
          </p:cNvPr>
          <p:cNvSpPr/>
          <p:nvPr/>
        </p:nvSpPr>
        <p:spPr>
          <a:xfrm>
            <a:off x="534567" y="3018655"/>
            <a:ext cx="1358975" cy="417887"/>
          </a:xfrm>
          <a:prstGeom prst="roundRect">
            <a:avLst>
              <a:gd name="adj" fmla="val 20382"/>
            </a:avLst>
          </a:prstGeom>
          <a:solidFill>
            <a:srgbClr val="21D3BE"/>
          </a:solidFill>
          <a:effectLst>
            <a:outerShdw blurRad="50800" dist="38100" dir="8100000" algn="tr" rotWithShape="0">
              <a:prstClr val="black">
                <a:alpha val="40000"/>
              </a:prstClr>
            </a:outerShdw>
          </a:effectLst>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1200" dirty="0"/>
              <a:t>RAG Engine</a:t>
            </a:r>
            <a:endParaRPr lang="en-IN" sz="1200" dirty="0"/>
          </a:p>
        </p:txBody>
      </p:sp>
      <p:sp>
        <p:nvSpPr>
          <p:cNvPr id="10" name="Rectangle: Rounded Corners 9">
            <a:extLst>
              <a:ext uri="{FF2B5EF4-FFF2-40B4-BE49-F238E27FC236}">
                <a16:creationId xmlns:a16="http://schemas.microsoft.com/office/drawing/2014/main" id="{A024E1A7-4A8B-4FD1-AB74-6C96A90AEB82}"/>
              </a:ext>
            </a:extLst>
          </p:cNvPr>
          <p:cNvSpPr/>
          <p:nvPr/>
        </p:nvSpPr>
        <p:spPr>
          <a:xfrm>
            <a:off x="2959765" y="3025870"/>
            <a:ext cx="1083093" cy="417887"/>
          </a:xfrm>
          <a:prstGeom prst="roundRect">
            <a:avLst>
              <a:gd name="adj" fmla="val 20382"/>
            </a:avLst>
          </a:prstGeom>
          <a:solidFill>
            <a:srgbClr val="00B0F0"/>
          </a:solidFill>
          <a:effectLst>
            <a:outerShdw blurRad="50800" dist="38100" dir="8100000" algn="tr" rotWithShape="0">
              <a:prstClr val="black">
                <a:alpha val="40000"/>
              </a:prstClr>
            </a:outerShdw>
          </a:effectLst>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1200" dirty="0"/>
              <a:t>Vector DB</a:t>
            </a:r>
            <a:endParaRPr lang="en-IN" sz="1200" dirty="0"/>
          </a:p>
        </p:txBody>
      </p:sp>
      <p:sp>
        <p:nvSpPr>
          <p:cNvPr id="11" name="Rectangle: Rounded Corners 10">
            <a:extLst>
              <a:ext uri="{FF2B5EF4-FFF2-40B4-BE49-F238E27FC236}">
                <a16:creationId xmlns:a16="http://schemas.microsoft.com/office/drawing/2014/main" id="{FB2BA6FF-77DC-D613-CF9B-691B05DDBFA5}"/>
              </a:ext>
            </a:extLst>
          </p:cNvPr>
          <p:cNvSpPr/>
          <p:nvPr/>
        </p:nvSpPr>
        <p:spPr>
          <a:xfrm>
            <a:off x="5138712" y="3025870"/>
            <a:ext cx="1083093" cy="417887"/>
          </a:xfrm>
          <a:prstGeom prst="roundRect">
            <a:avLst>
              <a:gd name="adj" fmla="val 20382"/>
            </a:avLst>
          </a:prstGeom>
          <a:solidFill>
            <a:srgbClr val="FF5050"/>
          </a:solidFill>
          <a:effectLst>
            <a:outerShdw blurRad="50800" dist="38100" dir="8100000" algn="tr" rotWithShape="0">
              <a:prstClr val="black">
                <a:alpha val="40000"/>
              </a:prstClr>
            </a:outerShdw>
          </a:effectLst>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LLM</a:t>
            </a:r>
            <a:endParaRPr lang="en-IN" dirty="0"/>
          </a:p>
        </p:txBody>
      </p:sp>
      <p:sp>
        <p:nvSpPr>
          <p:cNvPr id="13" name="Rectangle: Rounded Corners 12">
            <a:extLst>
              <a:ext uri="{FF2B5EF4-FFF2-40B4-BE49-F238E27FC236}">
                <a16:creationId xmlns:a16="http://schemas.microsoft.com/office/drawing/2014/main" id="{D59AD98D-5CA3-4F1A-E904-BD37904F5072}"/>
              </a:ext>
            </a:extLst>
          </p:cNvPr>
          <p:cNvSpPr/>
          <p:nvPr/>
        </p:nvSpPr>
        <p:spPr>
          <a:xfrm>
            <a:off x="6666204" y="3983074"/>
            <a:ext cx="1905474" cy="417887"/>
          </a:xfrm>
          <a:prstGeom prst="roundRect">
            <a:avLst>
              <a:gd name="adj" fmla="val 20382"/>
            </a:avLst>
          </a:prstGeom>
          <a:solidFill>
            <a:srgbClr val="21D3BE"/>
          </a:solidFill>
          <a:effectLst>
            <a:outerShdw blurRad="50800" dist="38100" dir="8100000" algn="tr" rotWithShape="0">
              <a:prstClr val="black">
                <a:alpha val="40000"/>
              </a:prstClr>
            </a:outerShdw>
          </a:effectLst>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1200" dirty="0"/>
              <a:t>Response &amp; Citation</a:t>
            </a:r>
            <a:endParaRPr lang="en-IN" sz="1200" dirty="0"/>
          </a:p>
        </p:txBody>
      </p:sp>
      <p:cxnSp>
        <p:nvCxnSpPr>
          <p:cNvPr id="14" name="Straight Arrow Connector 13">
            <a:extLst>
              <a:ext uri="{FF2B5EF4-FFF2-40B4-BE49-F238E27FC236}">
                <a16:creationId xmlns:a16="http://schemas.microsoft.com/office/drawing/2014/main" id="{5CD46A9A-43AC-2B65-3037-2111B0B0D25C}"/>
              </a:ext>
            </a:extLst>
          </p:cNvPr>
          <p:cNvCxnSpPr>
            <a:cxnSpLocks/>
            <a:stCxn id="3" idx="3"/>
            <a:endCxn id="4" idx="1"/>
          </p:cNvCxnSpPr>
          <p:nvPr/>
        </p:nvCxnSpPr>
        <p:spPr>
          <a:xfrm>
            <a:off x="4164029" y="1494872"/>
            <a:ext cx="1182067" cy="0"/>
          </a:xfrm>
          <a:prstGeom prst="straightConnector1">
            <a:avLst/>
          </a:prstGeom>
          <a:ln>
            <a:tailEnd type="triangle"/>
          </a:ln>
          <a:effectLst>
            <a:outerShdw blurRad="50800" dist="38100" dir="10140000" sx="99000" sy="99000" algn="tr" rotWithShape="0">
              <a:prstClr val="black">
                <a:alpha val="40000"/>
              </a:prstClr>
            </a:outerShdw>
            <a:reflection endPos="0" dist="50800" dir="5400000" sy="-100000" algn="bl" rotWithShape="0"/>
            <a:softEdge rad="0"/>
          </a:effectLst>
        </p:spPr>
        <p:style>
          <a:lnRef idx="3">
            <a:schemeClr val="dk1"/>
          </a:lnRef>
          <a:fillRef idx="0">
            <a:schemeClr val="dk1"/>
          </a:fillRef>
          <a:effectRef idx="2">
            <a:schemeClr val="dk1"/>
          </a:effectRef>
          <a:fontRef idx="minor">
            <a:schemeClr val="tx1"/>
          </a:fontRef>
        </p:style>
      </p:cxnSp>
      <p:cxnSp>
        <p:nvCxnSpPr>
          <p:cNvPr id="15" name="Straight Arrow Connector 14">
            <a:extLst>
              <a:ext uri="{FF2B5EF4-FFF2-40B4-BE49-F238E27FC236}">
                <a16:creationId xmlns:a16="http://schemas.microsoft.com/office/drawing/2014/main" id="{E4FAA3AB-147B-D02C-FE6F-61C7111CA43C}"/>
              </a:ext>
            </a:extLst>
          </p:cNvPr>
          <p:cNvCxnSpPr>
            <a:cxnSpLocks/>
            <a:stCxn id="2" idx="3"/>
            <a:endCxn id="3" idx="1"/>
          </p:cNvCxnSpPr>
          <p:nvPr/>
        </p:nvCxnSpPr>
        <p:spPr>
          <a:xfrm>
            <a:off x="1613094" y="1494872"/>
            <a:ext cx="1160958" cy="0"/>
          </a:xfrm>
          <a:prstGeom prst="straightConnector1">
            <a:avLst/>
          </a:prstGeom>
          <a:ln>
            <a:tailEnd type="triangle"/>
          </a:ln>
          <a:effectLst>
            <a:outerShdw blurRad="50800" dist="38100" dir="10140000" sx="99000" sy="99000" algn="tr" rotWithShape="0">
              <a:prstClr val="black">
                <a:alpha val="40000"/>
              </a:prstClr>
            </a:outerShdw>
            <a:reflection endPos="0" dist="50800" dir="5400000" sy="-100000" algn="bl" rotWithShape="0"/>
            <a:softEdge rad="0"/>
          </a:effectLst>
        </p:spPr>
        <p:style>
          <a:lnRef idx="3">
            <a:schemeClr val="dk1"/>
          </a:lnRef>
          <a:fillRef idx="0">
            <a:schemeClr val="dk1"/>
          </a:fillRef>
          <a:effectRef idx="2">
            <a:schemeClr val="dk1"/>
          </a:effectRef>
          <a:fontRef idx="minor">
            <a:schemeClr val="tx1"/>
          </a:fontRef>
        </p:style>
      </p:cxnSp>
      <p:cxnSp>
        <p:nvCxnSpPr>
          <p:cNvPr id="24" name="Connector: Elbow 23">
            <a:extLst>
              <a:ext uri="{FF2B5EF4-FFF2-40B4-BE49-F238E27FC236}">
                <a16:creationId xmlns:a16="http://schemas.microsoft.com/office/drawing/2014/main" id="{4C2C12D9-89C7-AC5C-72CE-63881541BFA1}"/>
              </a:ext>
            </a:extLst>
          </p:cNvPr>
          <p:cNvCxnSpPr>
            <a:cxnSpLocks/>
            <a:stCxn id="4" idx="2"/>
            <a:endCxn id="5" idx="0"/>
          </p:cNvCxnSpPr>
          <p:nvPr/>
        </p:nvCxnSpPr>
        <p:spPr>
          <a:xfrm rot="5400000">
            <a:off x="2893429" y="24441"/>
            <a:ext cx="1314840" cy="4673588"/>
          </a:xfrm>
          <a:prstGeom prst="bentConnector3">
            <a:avLst>
              <a:gd name="adj1" fmla="val 50000"/>
            </a:avLst>
          </a:prstGeom>
          <a:ln>
            <a:tailEnd type="triangle"/>
          </a:ln>
        </p:spPr>
        <p:style>
          <a:lnRef idx="3">
            <a:schemeClr val="dk1"/>
          </a:lnRef>
          <a:fillRef idx="0">
            <a:schemeClr val="dk1"/>
          </a:fillRef>
          <a:effectRef idx="2">
            <a:schemeClr val="dk1"/>
          </a:effectRef>
          <a:fontRef idx="minor">
            <a:schemeClr val="tx1"/>
          </a:fontRef>
        </p:style>
      </p:cxnSp>
      <p:cxnSp>
        <p:nvCxnSpPr>
          <p:cNvPr id="30" name="Straight Arrow Connector 29">
            <a:extLst>
              <a:ext uri="{FF2B5EF4-FFF2-40B4-BE49-F238E27FC236}">
                <a16:creationId xmlns:a16="http://schemas.microsoft.com/office/drawing/2014/main" id="{2EB2B3D4-2FFF-7C05-E2F0-F1BFCA3B4B76}"/>
              </a:ext>
            </a:extLst>
          </p:cNvPr>
          <p:cNvCxnSpPr>
            <a:cxnSpLocks/>
            <a:stCxn id="10" idx="3"/>
            <a:endCxn id="11" idx="1"/>
          </p:cNvCxnSpPr>
          <p:nvPr/>
        </p:nvCxnSpPr>
        <p:spPr>
          <a:xfrm>
            <a:off x="4042858" y="3234814"/>
            <a:ext cx="1095854" cy="0"/>
          </a:xfrm>
          <a:prstGeom prst="straightConnector1">
            <a:avLst/>
          </a:prstGeom>
          <a:ln>
            <a:tailEnd type="triangle"/>
          </a:ln>
          <a:effectLst>
            <a:outerShdw blurRad="50800" dist="38100" dir="10140000" sx="99000" sy="99000" algn="tr" rotWithShape="0">
              <a:prstClr val="black">
                <a:alpha val="40000"/>
              </a:prstClr>
            </a:outerShdw>
            <a:reflection endPos="0" dist="50800" dir="5400000" sy="-100000" algn="bl" rotWithShape="0"/>
            <a:softEdge rad="0"/>
          </a:effectLst>
        </p:spPr>
        <p:style>
          <a:lnRef idx="3">
            <a:schemeClr val="dk1"/>
          </a:lnRef>
          <a:fillRef idx="0">
            <a:schemeClr val="dk1"/>
          </a:fillRef>
          <a:effectRef idx="2">
            <a:schemeClr val="dk1"/>
          </a:effectRef>
          <a:fontRef idx="minor">
            <a:schemeClr val="tx1"/>
          </a:fontRef>
        </p:style>
      </p:cxnSp>
      <p:cxnSp>
        <p:nvCxnSpPr>
          <p:cNvPr id="31" name="Straight Arrow Connector 30">
            <a:extLst>
              <a:ext uri="{FF2B5EF4-FFF2-40B4-BE49-F238E27FC236}">
                <a16:creationId xmlns:a16="http://schemas.microsoft.com/office/drawing/2014/main" id="{2C1BFAF9-2293-5399-03E6-FB7736F1D59C}"/>
              </a:ext>
            </a:extLst>
          </p:cNvPr>
          <p:cNvCxnSpPr>
            <a:cxnSpLocks/>
            <a:stCxn id="5" idx="3"/>
            <a:endCxn id="10" idx="1"/>
          </p:cNvCxnSpPr>
          <p:nvPr/>
        </p:nvCxnSpPr>
        <p:spPr>
          <a:xfrm>
            <a:off x="1893542" y="3227599"/>
            <a:ext cx="1066223" cy="7215"/>
          </a:xfrm>
          <a:prstGeom prst="straightConnector1">
            <a:avLst/>
          </a:prstGeom>
          <a:ln>
            <a:tailEnd type="triangle"/>
          </a:ln>
          <a:effectLst>
            <a:outerShdw blurRad="50800" dist="38100" dir="10140000" sx="99000" sy="99000" algn="tr" rotWithShape="0">
              <a:prstClr val="black">
                <a:alpha val="40000"/>
              </a:prstClr>
            </a:outerShdw>
            <a:reflection endPos="0" dist="50800" dir="5400000" sy="-100000" algn="bl" rotWithShape="0"/>
            <a:softEdge rad="0"/>
          </a:effectLst>
        </p:spPr>
        <p:style>
          <a:lnRef idx="3">
            <a:schemeClr val="dk1"/>
          </a:lnRef>
          <a:fillRef idx="0">
            <a:schemeClr val="dk1"/>
          </a:fillRef>
          <a:effectRef idx="2">
            <a:schemeClr val="dk1"/>
          </a:effectRef>
          <a:fontRef idx="minor">
            <a:schemeClr val="tx1"/>
          </a:fontRef>
        </p:style>
      </p:cxnSp>
      <p:cxnSp>
        <p:nvCxnSpPr>
          <p:cNvPr id="39" name="Connector: Elbow 38">
            <a:extLst>
              <a:ext uri="{FF2B5EF4-FFF2-40B4-BE49-F238E27FC236}">
                <a16:creationId xmlns:a16="http://schemas.microsoft.com/office/drawing/2014/main" id="{3FBDED4D-64C7-D853-BB25-EDA3EED8AE37}"/>
              </a:ext>
            </a:extLst>
          </p:cNvPr>
          <p:cNvCxnSpPr>
            <a:cxnSpLocks/>
            <a:stCxn id="11" idx="3"/>
            <a:endCxn id="13" idx="0"/>
          </p:cNvCxnSpPr>
          <p:nvPr/>
        </p:nvCxnSpPr>
        <p:spPr>
          <a:xfrm>
            <a:off x="6221805" y="3234814"/>
            <a:ext cx="1397136" cy="748260"/>
          </a:xfrm>
          <a:prstGeom prst="bentConnector2">
            <a:avLst/>
          </a:prstGeom>
          <a:ln>
            <a:tailEnd type="triangle"/>
          </a:ln>
        </p:spPr>
        <p:style>
          <a:lnRef idx="3">
            <a:schemeClr val="dk1"/>
          </a:lnRef>
          <a:fillRef idx="0">
            <a:schemeClr val="dk1"/>
          </a:fillRef>
          <a:effectRef idx="2">
            <a:schemeClr val="dk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pic>
        <p:nvPicPr>
          <p:cNvPr id="92" name="Google Shape;92;p19"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93" name="Google Shape;93;p19"/>
          <p:cNvSpPr txBox="1"/>
          <p:nvPr/>
        </p:nvSpPr>
        <p:spPr>
          <a:xfrm>
            <a:off x="132795" y="512367"/>
            <a:ext cx="5565639" cy="538355"/>
          </a:xfrm>
          <a:prstGeom prst="rect">
            <a:avLst/>
          </a:prstGeom>
          <a:noFill/>
          <a:ln>
            <a:noFill/>
          </a:ln>
        </p:spPr>
        <p:txBody>
          <a:bodyPr spcFirstLastPara="1" wrap="square" lIns="91425" tIns="91425" rIns="91425" bIns="91425" anchor="t" anchorCtr="0">
            <a:normAutofit fontScale="85000" lnSpcReduction="20000"/>
          </a:bodyPr>
          <a:lstStyle/>
          <a:p>
            <a:pPr marL="0" lvl="0" indent="0" algn="l" rtl="0">
              <a:lnSpc>
                <a:spcPct val="115000"/>
              </a:lnSpc>
              <a:spcBef>
                <a:spcPts val="0"/>
              </a:spcBef>
              <a:spcAft>
                <a:spcPts val="1200"/>
              </a:spcAft>
              <a:buSzPts val="935"/>
              <a:buNone/>
            </a:pPr>
            <a:r>
              <a:rPr lang="en-GB" sz="1700" b="1" dirty="0">
                <a:solidFill>
                  <a:srgbClr val="202729"/>
                </a:solidFill>
                <a:latin typeface="Manrope"/>
                <a:ea typeface="Manrope"/>
                <a:cs typeface="Manrope"/>
                <a:sym typeface="Manrope"/>
              </a:rPr>
              <a:t>Architecture diagram of the proposed solution:</a:t>
            </a:r>
            <a:endParaRPr dirty="0">
              <a:solidFill>
                <a:srgbClr val="434343"/>
              </a:solidFill>
              <a:latin typeface="Manrope"/>
              <a:ea typeface="Manrope"/>
              <a:cs typeface="Manrope"/>
              <a:sym typeface="Manrope"/>
            </a:endParaRPr>
          </a:p>
        </p:txBody>
      </p:sp>
      <p:pic>
        <p:nvPicPr>
          <p:cNvPr id="5" name="Picture 4">
            <a:extLst>
              <a:ext uri="{FF2B5EF4-FFF2-40B4-BE49-F238E27FC236}">
                <a16:creationId xmlns:a16="http://schemas.microsoft.com/office/drawing/2014/main" id="{F203E20A-FB8F-8610-84A0-5CF57CD39F85}"/>
              </a:ext>
            </a:extLst>
          </p:cNvPr>
          <p:cNvPicPr>
            <a:picLocks noChangeAspect="1"/>
          </p:cNvPicPr>
          <p:nvPr/>
        </p:nvPicPr>
        <p:blipFill>
          <a:blip r:embed="rId4"/>
          <a:stretch>
            <a:fillRect/>
          </a:stretch>
        </p:blipFill>
        <p:spPr>
          <a:xfrm>
            <a:off x="430703" y="797425"/>
            <a:ext cx="8024183" cy="425108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20" title="Artboarddfghjk – 6.png"/>
          <p:cNvPicPr preferRelativeResize="0"/>
          <p:nvPr/>
        </p:nvPicPr>
        <p:blipFill rotWithShape="1">
          <a:blip r:embed="rId3">
            <a:alphaModFix/>
          </a:blip>
          <a:srcRect/>
          <a:stretch/>
        </p:blipFill>
        <p:spPr>
          <a:xfrm>
            <a:off x="-18" y="-1"/>
            <a:ext cx="9144018" cy="5143501"/>
          </a:xfrm>
          <a:prstGeom prst="rect">
            <a:avLst/>
          </a:prstGeom>
          <a:noFill/>
          <a:ln>
            <a:noFill/>
          </a:ln>
        </p:spPr>
      </p:pic>
      <p:sp>
        <p:nvSpPr>
          <p:cNvPr id="7" name="TextBox 6">
            <a:extLst>
              <a:ext uri="{FF2B5EF4-FFF2-40B4-BE49-F238E27FC236}">
                <a16:creationId xmlns:a16="http://schemas.microsoft.com/office/drawing/2014/main" id="{602F49CF-BB94-9B49-1AE7-627310BAB759}"/>
              </a:ext>
            </a:extLst>
          </p:cNvPr>
          <p:cNvSpPr txBox="1"/>
          <p:nvPr/>
        </p:nvSpPr>
        <p:spPr>
          <a:xfrm>
            <a:off x="2660964" y="592760"/>
            <a:ext cx="4618048" cy="338554"/>
          </a:xfrm>
          <a:prstGeom prst="rect">
            <a:avLst/>
          </a:prstGeom>
          <a:noFill/>
        </p:spPr>
        <p:txBody>
          <a:bodyPr wrap="square">
            <a:spAutoFit/>
          </a:bodyPr>
          <a:lstStyle/>
          <a:p>
            <a:r>
              <a:rPr lang="en-US" sz="1600" b="1" dirty="0">
                <a:latin typeface="Calibri" panose="020F0502020204030204" pitchFamily="34" charset="0"/>
                <a:cs typeface="Calibri" panose="020F0502020204030204" pitchFamily="34" charset="0"/>
              </a:rPr>
              <a:t>Technologies utilized in the solution:</a:t>
            </a:r>
            <a:endParaRPr lang="en-IN" sz="1600" b="1" dirty="0">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5B1B4CC0-EDB6-E35B-95D1-075196142934}"/>
              </a:ext>
            </a:extLst>
          </p:cNvPr>
          <p:cNvSpPr txBox="1"/>
          <p:nvPr/>
        </p:nvSpPr>
        <p:spPr>
          <a:xfrm>
            <a:off x="329938" y="979479"/>
            <a:ext cx="8580534" cy="3880549"/>
          </a:xfrm>
          <a:prstGeom prst="rect">
            <a:avLst/>
          </a:prstGeom>
          <a:noFill/>
        </p:spPr>
        <p:txBody>
          <a:bodyPr wrap="square">
            <a:spAutoFit/>
          </a:bodyPr>
          <a:lstStyle/>
          <a:p>
            <a:pPr>
              <a:spcAft>
                <a:spcPts val="500"/>
              </a:spcAft>
            </a:pPr>
            <a:r>
              <a:rPr lang="en-IN" sz="1200" b="1" dirty="0">
                <a:latin typeface="Calibri" panose="020F0502020204030204" pitchFamily="34" charset="0"/>
                <a:cs typeface="Calibri" panose="020F0502020204030204" pitchFamily="34" charset="0"/>
              </a:rPr>
              <a:t>Amazon S3 </a:t>
            </a:r>
            <a:r>
              <a:rPr lang="en-IN" sz="1200" dirty="0">
                <a:latin typeface="Calibri" panose="020F0502020204030204" pitchFamily="34" charset="0"/>
                <a:cs typeface="Calibri" panose="020F0502020204030204" pitchFamily="34" charset="0"/>
              </a:rPr>
              <a:t>→ Hosts the multilingual frontend and stores generated PDFs/static assets.</a:t>
            </a:r>
          </a:p>
          <a:p>
            <a:pPr>
              <a:spcAft>
                <a:spcPts val="500"/>
              </a:spcAft>
            </a:pPr>
            <a:r>
              <a:rPr lang="en-IN" sz="1200" b="1" dirty="0">
                <a:latin typeface="Calibri" panose="020F0502020204030204" pitchFamily="34" charset="0"/>
                <a:cs typeface="Calibri" panose="020F0502020204030204" pitchFamily="34" charset="0"/>
              </a:rPr>
              <a:t>Amazon CloudFront </a:t>
            </a:r>
            <a:r>
              <a:rPr lang="en-IN" sz="1200" dirty="0">
                <a:latin typeface="Calibri" panose="020F0502020204030204" pitchFamily="34" charset="0"/>
                <a:cs typeface="Calibri" panose="020F0502020204030204" pitchFamily="34" charset="0"/>
              </a:rPr>
              <a:t>→ Provides secure, low‑latency content delivery for the frontend.</a:t>
            </a:r>
          </a:p>
          <a:p>
            <a:pPr>
              <a:spcAft>
                <a:spcPts val="500"/>
              </a:spcAft>
            </a:pPr>
            <a:r>
              <a:rPr lang="en-IN" sz="1200" b="1" dirty="0">
                <a:latin typeface="Calibri" panose="020F0502020204030204" pitchFamily="34" charset="0"/>
                <a:cs typeface="Calibri" panose="020F0502020204030204" pitchFamily="34" charset="0"/>
              </a:rPr>
              <a:t>Amazon API Gateway </a:t>
            </a:r>
            <a:r>
              <a:rPr lang="en-IN" sz="1200" dirty="0">
                <a:latin typeface="Calibri" panose="020F0502020204030204" pitchFamily="34" charset="0"/>
                <a:cs typeface="Calibri" panose="020F0502020204030204" pitchFamily="34" charset="0"/>
              </a:rPr>
              <a:t>→ Entry point for user queries, routing requests to backend logic.</a:t>
            </a:r>
          </a:p>
          <a:p>
            <a:pPr>
              <a:spcAft>
                <a:spcPts val="500"/>
              </a:spcAft>
            </a:pPr>
            <a:r>
              <a:rPr lang="en-IN" sz="1200" b="1" dirty="0">
                <a:latin typeface="Calibri" panose="020F0502020204030204" pitchFamily="34" charset="0"/>
                <a:cs typeface="Calibri" panose="020F0502020204030204" pitchFamily="34" charset="0"/>
              </a:rPr>
              <a:t>AWS Lambda </a:t>
            </a:r>
            <a:r>
              <a:rPr lang="en-IN" sz="1200" dirty="0">
                <a:latin typeface="Calibri" panose="020F0502020204030204" pitchFamily="34" charset="0"/>
                <a:cs typeface="Calibri" panose="020F0502020204030204" pitchFamily="34" charset="0"/>
              </a:rPr>
              <a:t>→ Serverless functions for ingestion, RAG orchestration, and PDF generation.</a:t>
            </a:r>
          </a:p>
          <a:p>
            <a:pPr>
              <a:spcAft>
                <a:spcPts val="500"/>
              </a:spcAft>
            </a:pPr>
            <a:r>
              <a:rPr lang="en-IN" sz="1200" b="1" dirty="0">
                <a:latin typeface="Calibri" panose="020F0502020204030204" pitchFamily="34" charset="0"/>
                <a:cs typeface="Calibri" panose="020F0502020204030204" pitchFamily="34" charset="0"/>
              </a:rPr>
              <a:t>Amazon EC2 + ChromaDB </a:t>
            </a:r>
            <a:r>
              <a:rPr lang="en-IN" sz="1200" dirty="0">
                <a:latin typeface="Calibri" panose="020F0502020204030204" pitchFamily="34" charset="0"/>
                <a:cs typeface="Calibri" panose="020F0502020204030204" pitchFamily="34" charset="0"/>
              </a:rPr>
              <a:t>→ Vector database service for embeddings and semantic retrieval.</a:t>
            </a:r>
          </a:p>
          <a:p>
            <a:pPr>
              <a:spcAft>
                <a:spcPts val="500"/>
              </a:spcAft>
            </a:pPr>
            <a:r>
              <a:rPr lang="en-IN" sz="1200" b="1" dirty="0">
                <a:latin typeface="Calibri" panose="020F0502020204030204" pitchFamily="34" charset="0"/>
                <a:cs typeface="Calibri" panose="020F0502020204030204" pitchFamily="34" charset="0"/>
              </a:rPr>
              <a:t>Amazon CloudWatch </a:t>
            </a:r>
            <a:r>
              <a:rPr lang="en-IN" sz="1200" dirty="0">
                <a:latin typeface="Calibri" panose="020F0502020204030204" pitchFamily="34" charset="0"/>
                <a:cs typeface="Calibri" panose="020F0502020204030204" pitchFamily="34" charset="0"/>
              </a:rPr>
              <a:t>→ Monitoring, logs, metrics, and alarms for observability.</a:t>
            </a:r>
          </a:p>
          <a:p>
            <a:pPr>
              <a:spcAft>
                <a:spcPts val="500"/>
              </a:spcAft>
            </a:pPr>
            <a:r>
              <a:rPr lang="en-IN" sz="1200" dirty="0">
                <a:latin typeface="Calibri" panose="020F0502020204030204" pitchFamily="34" charset="0"/>
                <a:cs typeface="Calibri" panose="020F0502020204030204" pitchFamily="34" charset="0"/>
              </a:rPr>
              <a:t>Frontend (HTML/JS) → Simple, accessible user interface hosted on S3.</a:t>
            </a:r>
          </a:p>
          <a:p>
            <a:pPr>
              <a:spcAft>
                <a:spcPts val="500"/>
              </a:spcAft>
            </a:pPr>
            <a:endParaRPr lang="en-IN" sz="1200" b="1" dirty="0">
              <a:latin typeface="Calibri" panose="020F0502020204030204" pitchFamily="34" charset="0"/>
              <a:cs typeface="Calibri" panose="020F0502020204030204" pitchFamily="34" charset="0"/>
            </a:endParaRPr>
          </a:p>
          <a:p>
            <a:pPr>
              <a:spcAft>
                <a:spcPts val="500"/>
              </a:spcAft>
            </a:pPr>
            <a:r>
              <a:rPr lang="en-IN" sz="1200" b="1" dirty="0">
                <a:latin typeface="Calibri" panose="020F0502020204030204" pitchFamily="34" charset="0"/>
                <a:cs typeface="Calibri" panose="020F0502020204030204" pitchFamily="34" charset="0"/>
              </a:rPr>
              <a:t>Retrieval‑Augmented Generation (RAG) </a:t>
            </a:r>
            <a:r>
              <a:rPr lang="en-IN" sz="1200" dirty="0">
                <a:latin typeface="Calibri" panose="020F0502020204030204" pitchFamily="34" charset="0"/>
                <a:cs typeface="Calibri" panose="020F0502020204030204" pitchFamily="34" charset="0"/>
              </a:rPr>
              <a:t>→ AI technique combining ChromaDB retrieval with Bedrock LLM generation.</a:t>
            </a:r>
            <a:br>
              <a:rPr lang="en-IN" sz="1200" dirty="0">
                <a:latin typeface="Calibri" panose="020F0502020204030204" pitchFamily="34" charset="0"/>
                <a:cs typeface="Calibri" panose="020F0502020204030204" pitchFamily="34" charset="0"/>
              </a:rPr>
            </a:br>
            <a:r>
              <a:rPr lang="en-IN" sz="1200" b="1" dirty="0">
                <a:latin typeface="Calibri" panose="020F0502020204030204" pitchFamily="34" charset="0"/>
                <a:cs typeface="Calibri" panose="020F0502020204030204" pitchFamily="34" charset="0"/>
              </a:rPr>
              <a:t>Amazon Bedrock </a:t>
            </a:r>
            <a:r>
              <a:rPr lang="en-IN" sz="1200" dirty="0">
                <a:latin typeface="Calibri" panose="020F0502020204030204" pitchFamily="34" charset="0"/>
                <a:cs typeface="Calibri" panose="020F0502020204030204" pitchFamily="34" charset="0"/>
              </a:rPr>
              <a:t>→ AI foundation models for multilingual query understanding and RAG responses.</a:t>
            </a:r>
          </a:p>
          <a:p>
            <a:pPr marL="171450" lvl="2" indent="-171450">
              <a:spcAft>
                <a:spcPts val="500"/>
              </a:spcAft>
              <a:buFont typeface="Wingdings" panose="05000000000000000000" pitchFamily="2" charset="2"/>
              <a:buChar char="§"/>
            </a:pPr>
            <a:r>
              <a:rPr lang="en-US" sz="1200" b="1" dirty="0">
                <a:latin typeface="Calibri" panose="020F0502020204030204" pitchFamily="34" charset="0"/>
                <a:cs typeface="Calibri" panose="020F0502020204030204" pitchFamily="34" charset="0"/>
              </a:rPr>
              <a:t>Embedding Model: </a:t>
            </a:r>
            <a:r>
              <a:rPr lang="en-US" sz="1200" b="1" dirty="0">
                <a:solidFill>
                  <a:schemeClr val="accent1">
                    <a:lumMod val="75000"/>
                  </a:schemeClr>
                </a:solidFill>
                <a:latin typeface="Calibri" panose="020F0502020204030204" pitchFamily="34" charset="0"/>
                <a:cs typeface="Calibri" panose="020F0502020204030204" pitchFamily="34" charset="0"/>
              </a:rPr>
              <a:t>amazon.titan-embed-text-v2:0 </a:t>
            </a:r>
            <a:r>
              <a:rPr lang="en-US" sz="1200" dirty="0">
                <a:latin typeface="Calibri" panose="020F0502020204030204" pitchFamily="34" charset="0"/>
                <a:cs typeface="Calibri" panose="020F0502020204030204" pitchFamily="34" charset="0"/>
              </a:rPr>
              <a:t>(1024 dimensions)</a:t>
            </a:r>
          </a:p>
          <a:p>
            <a:pPr lvl="2">
              <a:spcAft>
                <a:spcPts val="500"/>
              </a:spcAft>
            </a:pPr>
            <a:r>
              <a:rPr lang="en-US" sz="1200" dirty="0">
                <a:latin typeface="Calibri" panose="020F0502020204030204" pitchFamily="34" charset="0"/>
                <a:cs typeface="Calibri" panose="020F0502020204030204" pitchFamily="34" charset="0"/>
              </a:rPr>
              <a:t>This is used in the Ingestion Lambda. It converts text into embeddings (vectors) so they can be stored and later retrieved efficiently during query time.</a:t>
            </a:r>
          </a:p>
          <a:p>
            <a:pPr marL="171450" lvl="2" indent="-171450">
              <a:spcAft>
                <a:spcPts val="500"/>
              </a:spcAft>
              <a:buFont typeface="Wingdings" panose="05000000000000000000" pitchFamily="2" charset="2"/>
              <a:buChar char="§"/>
            </a:pPr>
            <a:r>
              <a:rPr lang="en-US" sz="1200" b="1" dirty="0">
                <a:latin typeface="Calibri" panose="020F0502020204030204" pitchFamily="34" charset="0"/>
                <a:cs typeface="Calibri" panose="020F0502020204030204" pitchFamily="34" charset="0"/>
              </a:rPr>
              <a:t>LLM Model: </a:t>
            </a:r>
            <a:r>
              <a:rPr lang="en-US" sz="1200" dirty="0">
                <a:latin typeface="Calibri" panose="020F0502020204030204" pitchFamily="34" charset="0"/>
                <a:cs typeface="Calibri" panose="020F0502020204030204" pitchFamily="34" charset="0"/>
              </a:rPr>
              <a:t>global.amazon.nova-2-lite-v1:0 </a:t>
            </a:r>
            <a:r>
              <a:rPr lang="en-US" sz="1200" b="1" dirty="0">
                <a:solidFill>
                  <a:schemeClr val="accent1">
                    <a:lumMod val="75000"/>
                  </a:schemeClr>
                </a:solidFill>
                <a:latin typeface="Calibri" panose="020F0502020204030204" pitchFamily="34" charset="0"/>
                <a:cs typeface="Calibri" panose="020F0502020204030204" pitchFamily="34" charset="0"/>
              </a:rPr>
              <a:t>(Nova 2 Lite)</a:t>
            </a:r>
          </a:p>
          <a:p>
            <a:pPr lvl="2">
              <a:spcAft>
                <a:spcPts val="500"/>
              </a:spcAft>
            </a:pPr>
            <a:r>
              <a:rPr lang="en-US" sz="1200" dirty="0">
                <a:latin typeface="Calibri" panose="020F0502020204030204" pitchFamily="34" charset="0"/>
                <a:cs typeface="Calibri" panose="020F0502020204030204" pitchFamily="34" charset="0"/>
              </a:rPr>
              <a:t>This is the Query Lambda model. It’s the large language model used to process and answer user queries</a:t>
            </a:r>
            <a:endParaRPr lang="en-IN" sz="1200" dirty="0">
              <a:latin typeface="Calibri" panose="020F0502020204030204" pitchFamily="34" charset="0"/>
              <a:cs typeface="Calibri" panose="020F0502020204030204" pitchFamily="34" charset="0"/>
            </a:endParaRPr>
          </a:p>
          <a:p>
            <a:pPr>
              <a:spcAft>
                <a:spcPts val="300"/>
              </a:spcAft>
            </a:pPr>
            <a:endParaRPr lang="en-IN" sz="1200" dirty="0">
              <a:latin typeface="Calibri" panose="020F0502020204030204" pitchFamily="34" charset="0"/>
              <a:cs typeface="Calibri" panose="020F050202020403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pic>
        <p:nvPicPr>
          <p:cNvPr id="104" name="Google Shape;104;p21"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105" name="Google Shape;105;p21"/>
          <p:cNvSpPr txBox="1"/>
          <p:nvPr/>
        </p:nvSpPr>
        <p:spPr>
          <a:xfrm>
            <a:off x="304228" y="634291"/>
            <a:ext cx="5261114" cy="437991"/>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SzPts val="935"/>
              <a:buNone/>
            </a:pPr>
            <a:r>
              <a:rPr lang="en-GB" b="1" dirty="0">
                <a:solidFill>
                  <a:srgbClr val="202729"/>
                </a:solidFill>
                <a:latin typeface="Calibri" panose="020F0502020204030204" pitchFamily="34" charset="0"/>
                <a:ea typeface="Manrope"/>
                <a:cs typeface="Calibri" panose="020F0502020204030204" pitchFamily="34" charset="0"/>
                <a:sym typeface="Manrope"/>
              </a:rPr>
              <a:t>Estimated implementation cost (optional):</a:t>
            </a:r>
            <a:endParaRPr dirty="0">
              <a:solidFill>
                <a:srgbClr val="434343"/>
              </a:solidFill>
              <a:latin typeface="Calibri" panose="020F0502020204030204" pitchFamily="34" charset="0"/>
              <a:ea typeface="Manrope"/>
              <a:cs typeface="Calibri" panose="020F0502020204030204" pitchFamily="34" charset="0"/>
              <a:sym typeface="Manrope"/>
            </a:endParaRPr>
          </a:p>
        </p:txBody>
      </p:sp>
      <p:sp>
        <p:nvSpPr>
          <p:cNvPr id="3" name="TextBox 2">
            <a:extLst>
              <a:ext uri="{FF2B5EF4-FFF2-40B4-BE49-F238E27FC236}">
                <a16:creationId xmlns:a16="http://schemas.microsoft.com/office/drawing/2014/main" id="{EECF0021-82EF-9CE0-809F-9AEE394AF885}"/>
              </a:ext>
            </a:extLst>
          </p:cNvPr>
          <p:cNvSpPr txBox="1"/>
          <p:nvPr/>
        </p:nvSpPr>
        <p:spPr>
          <a:xfrm>
            <a:off x="480226" y="944002"/>
            <a:ext cx="7670433" cy="1384995"/>
          </a:xfrm>
          <a:prstGeom prst="rect">
            <a:avLst/>
          </a:prstGeom>
          <a:noFill/>
        </p:spPr>
        <p:txBody>
          <a:bodyPr wrap="square">
            <a:spAutoFit/>
          </a:bodyPr>
          <a:lstStyle/>
          <a:p>
            <a:pPr algn="ctr"/>
            <a:r>
              <a:rPr lang="en-IN" b="1" dirty="0">
                <a:latin typeface="Calibri" panose="020F0502020204030204" pitchFamily="34" charset="0"/>
                <a:cs typeface="Calibri" panose="020F0502020204030204" pitchFamily="34" charset="0"/>
              </a:rPr>
              <a:t>Cost Estimation</a:t>
            </a:r>
          </a:p>
          <a:p>
            <a:pPr algn="ctr"/>
            <a:r>
              <a:rPr lang="en-IN" dirty="0">
                <a:latin typeface="Calibri" panose="020F0502020204030204" pitchFamily="34" charset="0"/>
                <a:cs typeface="Calibri" panose="020F0502020204030204" pitchFamily="34" charset="0"/>
              </a:rPr>
              <a:t>Prototype (Current Setup)</a:t>
            </a:r>
            <a:br>
              <a:rPr lang="en-IN" dirty="0">
                <a:latin typeface="Calibri" panose="020F0502020204030204" pitchFamily="34" charset="0"/>
                <a:cs typeface="Calibri" panose="020F0502020204030204" pitchFamily="34" charset="0"/>
              </a:rPr>
            </a:br>
            <a:r>
              <a:rPr lang="en-IN" b="1" dirty="0">
                <a:latin typeface="Calibri" panose="020F0502020204030204" pitchFamily="34" charset="0"/>
                <a:cs typeface="Calibri" panose="020F0502020204030204" pitchFamily="34" charset="0"/>
              </a:rPr>
              <a:t>Competitive and Architecture-heavy, hybrid-Serverless</a:t>
            </a:r>
            <a:endParaRPr lang="en-IN" dirty="0">
              <a:latin typeface="Calibri" panose="020F0502020204030204" pitchFamily="34" charset="0"/>
              <a:cs typeface="Calibri" panose="020F0502020204030204" pitchFamily="34" charset="0"/>
            </a:endParaRPr>
          </a:p>
          <a:p>
            <a:pPr algn="ctr"/>
            <a:r>
              <a:rPr lang="en-IN" b="1" dirty="0">
                <a:latin typeface="Calibri" panose="020F0502020204030204" pitchFamily="34" charset="0"/>
                <a:cs typeface="Calibri" panose="020F0502020204030204" pitchFamily="34" charset="0"/>
              </a:rPr>
              <a:t>(</a:t>
            </a:r>
            <a:r>
              <a:rPr lang="en-US" b="1" dirty="0">
                <a:latin typeface="Calibri" panose="020F0502020204030204" pitchFamily="34" charset="0"/>
                <a:cs typeface="Calibri" panose="020F0502020204030204" pitchFamily="34" charset="0"/>
              </a:rPr>
              <a:t>CloudFront+  </a:t>
            </a:r>
            <a:r>
              <a:rPr lang="en-IN" b="1" dirty="0">
                <a:latin typeface="Calibri" panose="020F0502020204030204" pitchFamily="34" charset="0"/>
                <a:cs typeface="Calibri" panose="020F0502020204030204" pitchFamily="34" charset="0"/>
              </a:rPr>
              <a:t>Lambda +  S3+  API Gateway +  EC2+  Bedrock+ CloudWatch+ ChromaDB)</a:t>
            </a:r>
            <a:endParaRPr lang="en-IN" dirty="0">
              <a:latin typeface="Calibri" panose="020F0502020204030204" pitchFamily="34" charset="0"/>
              <a:cs typeface="Calibri" panose="020F0502020204030204" pitchFamily="34" charset="0"/>
            </a:endParaRPr>
          </a:p>
          <a:p>
            <a:endParaRPr lang="en-IN" dirty="0">
              <a:latin typeface="Calibri" panose="020F0502020204030204" pitchFamily="34" charset="0"/>
              <a:cs typeface="Calibri" panose="020F0502020204030204" pitchFamily="34" charset="0"/>
            </a:endParaRPr>
          </a:p>
          <a:p>
            <a:endParaRPr lang="en-IN"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09CFDB98-E7FB-A5F3-4E77-F0F747C378D3}"/>
              </a:ext>
            </a:extLst>
          </p:cNvPr>
          <p:cNvSpPr txBox="1"/>
          <p:nvPr/>
        </p:nvSpPr>
        <p:spPr>
          <a:xfrm>
            <a:off x="4687540" y="2016284"/>
            <a:ext cx="4002133" cy="2246769"/>
          </a:xfrm>
          <a:prstGeom prst="rect">
            <a:avLst/>
          </a:prstGeom>
          <a:noFill/>
        </p:spPr>
        <p:txBody>
          <a:bodyPr wrap="square">
            <a:spAutoFit/>
          </a:bodyPr>
          <a:lstStyle/>
          <a:p>
            <a:r>
              <a:rPr lang="en-IN" b="1" dirty="0">
                <a:highlight>
                  <a:srgbClr val="00FF00"/>
                </a:highlight>
                <a:latin typeface="Calibri" panose="020F0502020204030204" pitchFamily="34" charset="0"/>
                <a:cs typeface="Calibri" panose="020F0502020204030204" pitchFamily="34" charset="0"/>
              </a:rPr>
              <a:t>1 Month:</a:t>
            </a:r>
            <a:endParaRPr lang="en-IN" dirty="0">
              <a:latin typeface="Calibri" panose="020F0502020204030204" pitchFamily="34" charset="0"/>
              <a:cs typeface="Calibri" panose="020F0502020204030204" pitchFamily="34" charset="0"/>
            </a:endParaRPr>
          </a:p>
          <a:p>
            <a:r>
              <a:rPr lang="en-IN" dirty="0">
                <a:latin typeface="Calibri" panose="020F0502020204030204" pitchFamily="34" charset="0"/>
                <a:cs typeface="Calibri" panose="020F0502020204030204" pitchFamily="34" charset="0"/>
              </a:rPr>
              <a:t>EC2 t3.micro: $0 (free tier - 750 hrs/month)</a:t>
            </a:r>
          </a:p>
          <a:p>
            <a:r>
              <a:rPr lang="en-IN" dirty="0">
                <a:latin typeface="Calibri" panose="020F0502020204030204" pitchFamily="34" charset="0"/>
                <a:cs typeface="Calibri" panose="020F0502020204030204" pitchFamily="34" charset="0"/>
              </a:rPr>
              <a:t>EBS 8GB: $0 (free tier)</a:t>
            </a:r>
          </a:p>
          <a:p>
            <a:r>
              <a:rPr lang="en-IN" dirty="0">
                <a:latin typeface="Calibri" panose="020F0502020204030204" pitchFamily="34" charset="0"/>
                <a:cs typeface="Calibri" panose="020F0502020204030204" pitchFamily="34" charset="0"/>
              </a:rPr>
              <a:t>Lambda: $0 (free tier - 1M requests)</a:t>
            </a:r>
          </a:p>
          <a:p>
            <a:r>
              <a:rPr lang="en-IN" dirty="0">
                <a:latin typeface="Calibri" panose="020F0502020204030204" pitchFamily="34" charset="0"/>
                <a:cs typeface="Calibri" panose="020F0502020204030204" pitchFamily="34" charset="0"/>
              </a:rPr>
              <a:t>API Gateway: $0 (free tier)</a:t>
            </a:r>
          </a:p>
          <a:p>
            <a:r>
              <a:rPr lang="en-IN" dirty="0">
                <a:latin typeface="Calibri" panose="020F0502020204030204" pitchFamily="34" charset="0"/>
                <a:cs typeface="Calibri" panose="020F0502020204030204" pitchFamily="34" charset="0"/>
              </a:rPr>
              <a:t>S3: $0 (free tier)</a:t>
            </a:r>
          </a:p>
          <a:p>
            <a:r>
              <a:rPr lang="en-IN" dirty="0">
                <a:latin typeface="Calibri" panose="020F0502020204030204" pitchFamily="34" charset="0"/>
                <a:cs typeface="Calibri" panose="020F0502020204030204" pitchFamily="34" charset="0"/>
              </a:rPr>
              <a:t>CloudFront: $0 (free tier)</a:t>
            </a:r>
          </a:p>
          <a:p>
            <a:r>
              <a:rPr lang="en-IN" dirty="0">
                <a:latin typeface="Calibri" panose="020F0502020204030204" pitchFamily="34" charset="0"/>
                <a:cs typeface="Calibri" panose="020F0502020204030204" pitchFamily="34" charset="0"/>
              </a:rPr>
              <a:t>Bedrock only: ~$2-5 (depends on usage)</a:t>
            </a:r>
          </a:p>
          <a:p>
            <a:r>
              <a:rPr lang="en-IN" dirty="0">
                <a:latin typeface="Calibri" panose="020F0502020204030204" pitchFamily="34" charset="0"/>
                <a:cs typeface="Calibri" panose="020F0502020204030204" pitchFamily="34" charset="0"/>
              </a:rPr>
              <a:t>Bedrock: ~$5-10 (light testing)</a:t>
            </a:r>
          </a:p>
          <a:p>
            <a:r>
              <a:rPr lang="en-IN" b="1" dirty="0">
                <a:highlight>
                  <a:srgbClr val="FFFF00"/>
                </a:highlight>
                <a:latin typeface="Calibri" panose="020F0502020204030204" pitchFamily="34" charset="0"/>
                <a:cs typeface="Calibri" panose="020F0502020204030204" pitchFamily="34" charset="0"/>
              </a:rPr>
              <a:t>Total: </a:t>
            </a:r>
            <a:r>
              <a:rPr lang="en-IN" dirty="0">
                <a:latin typeface="Calibri" panose="020F0502020204030204" pitchFamily="34" charset="0"/>
                <a:cs typeface="Calibri" panose="020F0502020204030204" pitchFamily="34" charset="0"/>
              </a:rPr>
              <a:t>$5-10/month</a:t>
            </a:r>
          </a:p>
        </p:txBody>
      </p:sp>
      <p:sp>
        <p:nvSpPr>
          <p:cNvPr id="7" name="TextBox 6">
            <a:extLst>
              <a:ext uri="{FF2B5EF4-FFF2-40B4-BE49-F238E27FC236}">
                <a16:creationId xmlns:a16="http://schemas.microsoft.com/office/drawing/2014/main" id="{01A24A82-5666-7E9F-D29C-C99F6CF0BEE9}"/>
              </a:ext>
            </a:extLst>
          </p:cNvPr>
          <p:cNvSpPr txBox="1"/>
          <p:nvPr/>
        </p:nvSpPr>
        <p:spPr>
          <a:xfrm>
            <a:off x="480226" y="2106975"/>
            <a:ext cx="4746328" cy="2031325"/>
          </a:xfrm>
          <a:prstGeom prst="rect">
            <a:avLst/>
          </a:prstGeom>
          <a:noFill/>
        </p:spPr>
        <p:txBody>
          <a:bodyPr wrap="square">
            <a:spAutoFit/>
          </a:bodyPr>
          <a:lstStyle/>
          <a:p>
            <a:r>
              <a:rPr lang="en-IN" b="1" dirty="0">
                <a:highlight>
                  <a:srgbClr val="00FF00"/>
                </a:highlight>
                <a:latin typeface="Calibri" panose="020F0502020204030204" pitchFamily="34" charset="0"/>
                <a:cs typeface="Calibri" panose="020F0502020204030204" pitchFamily="34" charset="0"/>
              </a:rPr>
              <a:t>1 Week:</a:t>
            </a:r>
          </a:p>
          <a:p>
            <a:r>
              <a:rPr lang="en-IN" dirty="0">
                <a:latin typeface="Calibri" panose="020F0502020204030204" pitchFamily="34" charset="0"/>
                <a:cs typeface="Calibri" panose="020F0502020204030204" pitchFamily="34" charset="0"/>
              </a:rPr>
              <a:t>EC2 t3.micro: $0 (free tier - 750 hrs/month)</a:t>
            </a:r>
          </a:p>
          <a:p>
            <a:r>
              <a:rPr lang="en-IN" dirty="0">
                <a:latin typeface="Calibri" panose="020F0502020204030204" pitchFamily="34" charset="0"/>
                <a:cs typeface="Calibri" panose="020F0502020204030204" pitchFamily="34" charset="0"/>
              </a:rPr>
              <a:t>EBS 8GB: $0 (free tier)</a:t>
            </a:r>
          </a:p>
          <a:p>
            <a:r>
              <a:rPr lang="en-IN" dirty="0">
                <a:latin typeface="Calibri" panose="020F0502020204030204" pitchFamily="34" charset="0"/>
                <a:cs typeface="Calibri" panose="020F0502020204030204" pitchFamily="34" charset="0"/>
              </a:rPr>
              <a:t>Lambda: $0 (free tier - 1M requests)</a:t>
            </a:r>
          </a:p>
          <a:p>
            <a:r>
              <a:rPr lang="en-IN" dirty="0">
                <a:latin typeface="Calibri" panose="020F0502020204030204" pitchFamily="34" charset="0"/>
                <a:cs typeface="Calibri" panose="020F0502020204030204" pitchFamily="34" charset="0"/>
              </a:rPr>
              <a:t>API Gateway: $0 (free tier)</a:t>
            </a:r>
          </a:p>
          <a:p>
            <a:r>
              <a:rPr lang="en-IN" dirty="0">
                <a:latin typeface="Calibri" panose="020F0502020204030204" pitchFamily="34" charset="0"/>
                <a:cs typeface="Calibri" panose="020F0502020204030204" pitchFamily="34" charset="0"/>
              </a:rPr>
              <a:t>S3: $0 (free tier)</a:t>
            </a:r>
          </a:p>
          <a:p>
            <a:r>
              <a:rPr lang="en-IN" dirty="0">
                <a:latin typeface="Calibri" panose="020F0502020204030204" pitchFamily="34" charset="0"/>
                <a:cs typeface="Calibri" panose="020F0502020204030204" pitchFamily="34" charset="0"/>
              </a:rPr>
              <a:t>CloudFront: $0 (free tier)</a:t>
            </a:r>
          </a:p>
          <a:p>
            <a:r>
              <a:rPr lang="en-IN" dirty="0">
                <a:latin typeface="Calibri" panose="020F0502020204030204" pitchFamily="34" charset="0"/>
                <a:cs typeface="Calibri" panose="020F0502020204030204" pitchFamily="34" charset="0"/>
              </a:rPr>
              <a:t>Bedrock only: ~$2-5 (depends on usage)</a:t>
            </a:r>
          </a:p>
          <a:p>
            <a:r>
              <a:rPr lang="en-IN" b="1" dirty="0">
                <a:highlight>
                  <a:srgbClr val="FFFF00"/>
                </a:highlight>
                <a:latin typeface="Calibri" panose="020F0502020204030204" pitchFamily="34" charset="0"/>
                <a:cs typeface="Calibri" panose="020F0502020204030204" pitchFamily="34" charset="0"/>
              </a:rPr>
              <a:t>Total: </a:t>
            </a:r>
            <a:r>
              <a:rPr lang="en-IN" dirty="0">
                <a:latin typeface="Calibri" panose="020F0502020204030204" pitchFamily="34" charset="0"/>
                <a:cs typeface="Calibri" panose="020F0502020204030204" pitchFamily="34" charset="0"/>
              </a:rPr>
              <a:t>$2-5/week</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23" title="AI for Bharddat BANNER – 5.png"/>
          <p:cNvPicPr preferRelativeResize="0"/>
          <p:nvPr/>
        </p:nvPicPr>
        <p:blipFill rotWithShape="1">
          <a:blip r:embed="rId3">
            <a:alphaModFix/>
          </a:blip>
          <a:srcRect/>
          <a:stretch/>
        </p:blipFill>
        <p:spPr>
          <a:xfrm>
            <a:off x="0" y="0"/>
            <a:ext cx="9144018" cy="5143501"/>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141</TotalTime>
  <Words>1204</Words>
  <Application>Microsoft Office PowerPoint</Application>
  <PresentationFormat>On-screen Show (16:9)</PresentationFormat>
  <Paragraphs>120</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Wingdings</vt:lpstr>
      <vt:lpstr>Calibri</vt:lpstr>
      <vt:lpstr>Manrope</vt:lpstr>
      <vt:lpstr>Arial</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Krish</dc:creator>
  <cp:lastModifiedBy>Rishi yogi</cp:lastModifiedBy>
  <cp:revision>23</cp:revision>
  <dcterms:modified xsi:type="dcterms:W3CDTF">2026-03-09T18:28:13Z</dcterms:modified>
</cp:coreProperties>
</file>